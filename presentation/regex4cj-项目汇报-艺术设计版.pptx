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78cd07546043bf" /><Relationship Type="http://schemas.openxmlformats.org/officeDocument/2006/relationships/extended-properties" Target="/docProps/app.xml" Id="R2c2494badf8d4be2" /><Relationship Type="http://schemas.openxmlformats.org/officeDocument/2006/relationships/officeDocument" Target="/ppt/presentation.xml" Id="Reee4cfa9367e42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ff7a055dfd4081"/>
  </p:sldMasterIdLst>
  <p:notesMasterIdLst>
    <p:notesMasterId xmlns:r="http://schemas.openxmlformats.org/officeDocument/2006/relationships" r:id="R8c48cda6277a4041"/>
  </p:notesMasterIdLst>
  <p:sldIdLst>
    <p:sldId xmlns:r="http://schemas.openxmlformats.org/officeDocument/2006/relationships" id="256" r:id="Reb0bc8fcc1484800"/>
    <p:sldId xmlns:r="http://schemas.openxmlformats.org/officeDocument/2006/relationships" id="257" r:id="R177736481c054ec8"/>
    <p:sldId xmlns:r="http://schemas.openxmlformats.org/officeDocument/2006/relationships" id="258" r:id="R06b3f14a71da4a40"/>
    <p:sldId xmlns:r="http://schemas.openxmlformats.org/officeDocument/2006/relationships" id="259" r:id="Rfa49fb17df024856"/>
    <p:sldId xmlns:r="http://schemas.openxmlformats.org/officeDocument/2006/relationships" id="260" r:id="R7175a5ca8ca94bd0"/>
    <p:sldId xmlns:r="http://schemas.openxmlformats.org/officeDocument/2006/relationships" id="261" r:id="R7ba87b9f77f049ef"/>
    <p:sldId xmlns:r="http://schemas.openxmlformats.org/officeDocument/2006/relationships" id="262" r:id="R5d5bfa8e78cd456c"/>
    <p:sldId xmlns:r="http://schemas.openxmlformats.org/officeDocument/2006/relationships" id="263" r:id="R1810c34bb93d44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dc9f8cca14470e" /><Relationship Type="http://schemas.openxmlformats.org/officeDocument/2006/relationships/slideMaster" Target="/ppt/slideMasters/slideMaster1.xml" Id="R51ff7a055dfd4081" /><Relationship Type="http://schemas.openxmlformats.org/officeDocument/2006/relationships/notesMaster" Target="/ppt/notesMasters/notesMaster1.xml" Id="R8c48cda6277a4041" /><Relationship Type="http://schemas.openxmlformats.org/officeDocument/2006/relationships/presProps" Target="/ppt/presProps.xml" Id="Rdb8c15b7ec7144a4" /><Relationship Type="http://schemas.openxmlformats.org/officeDocument/2006/relationships/tableStyles" Target="/ppt/tableStyles.xml" Id="R94607ef1dfc04a63" /><Relationship Type="http://schemas.openxmlformats.org/officeDocument/2006/relationships/slide" Target="/ppt/slides/slide1.xml" Id="Reb0bc8fcc1484800" /><Relationship Type="http://schemas.openxmlformats.org/officeDocument/2006/relationships/slide" Target="/ppt/slides/slide2.xml" Id="R177736481c054ec8" /><Relationship Type="http://schemas.openxmlformats.org/officeDocument/2006/relationships/slide" Target="/ppt/slides/slide3.xml" Id="R06b3f14a71da4a40" /><Relationship Type="http://schemas.openxmlformats.org/officeDocument/2006/relationships/slide" Target="/ppt/slides/slide4.xml" Id="Rfa49fb17df024856" /><Relationship Type="http://schemas.openxmlformats.org/officeDocument/2006/relationships/slide" Target="/ppt/slides/slide5.xml" Id="R7175a5ca8ca94bd0" /><Relationship Type="http://schemas.openxmlformats.org/officeDocument/2006/relationships/slide" Target="/ppt/slides/slide6.xml" Id="R7ba87b9f77f049ef" /><Relationship Type="http://schemas.openxmlformats.org/officeDocument/2006/relationships/slide" Target="/ppt/slides/slide7.xml" Id="R5d5bfa8e78cd456c" /><Relationship Type="http://schemas.openxmlformats.org/officeDocument/2006/relationships/slide" Target="/ppt/slides/slide8.xml" Id="R1810c34bb93d44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4c851761444c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27c301bad44526" /><Relationship Type="http://schemas.openxmlformats.org/officeDocument/2006/relationships/notesMaster" Target="/ppt/notesMasters/notesMaster1.xml" Id="R92f32652e10f4e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01fdef56ee41b8" /><Relationship Type="http://schemas.openxmlformats.org/officeDocument/2006/relationships/notesMaster" Target="/ppt/notesMasters/notesMaster1.xml" Id="Rfd107a768ae54f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20ee702ba34b22" /><Relationship Type="http://schemas.openxmlformats.org/officeDocument/2006/relationships/notesMaster" Target="/ppt/notesMasters/notesMaster1.xml" Id="Rc67cf5f36ea340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aa272b375245a3" /><Relationship Type="http://schemas.openxmlformats.org/officeDocument/2006/relationships/notesMaster" Target="/ppt/notesMasters/notesMaster1.xml" Id="R397581c321e245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52347506e8436c" /><Relationship Type="http://schemas.openxmlformats.org/officeDocument/2006/relationships/notesMaster" Target="/ppt/notesMasters/notesMaster1.xml" Id="R6bc15ec9d54440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c67062e6de45ef" /><Relationship Type="http://schemas.openxmlformats.org/officeDocument/2006/relationships/notesMaster" Target="/ppt/notesMasters/notesMaster1.xml" Id="R16563c5d64bd4b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b5405b6d654703" /><Relationship Type="http://schemas.openxmlformats.org/officeDocument/2006/relationships/notesMaster" Target="/ppt/notesMasters/notesMaster1.xml" Id="Raec6cf4f59214c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02b0468470469f" /><Relationship Type="http://schemas.openxmlformats.org/officeDocument/2006/relationships/notesMaster" Target="/ppt/notesMasters/notesMaster1.xml" Id="R2d7acaa2a77d49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2b5cc79f304b3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297d970a8f4fd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96f2085e8b46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64215cbb1a4db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3bfa55379449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46228feb0744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C760B17-3138-4BF6-9A6A-421D9FC0D3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F81D0F8-2946-4622-B33D-2BC7989F32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7CAF592-12AB-45CF-8173-E2A20F96CA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684F97-2EF3-47EE-A575-86D32AAA55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0C680BC-CE36-4D39-8893-2490CF4F5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81C0EF-8165-4465-B6F3-4FC2F417BD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5593113-3C8F-48CD-B42D-8F8E1A8202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33FE112-CD3E-4B8A-A111-E8BF23AFBA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930A71-FD5E-41F4-BE0A-5A6748D5BC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8C06A2-358A-4052-AEF5-514BED861F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5138c74d8e4a94" /><Relationship Type="http://schemas.openxmlformats.org/officeDocument/2006/relationships/slideLayout" Target="/ppt/slideLayouts/slideLayout1.xml" Id="R4b7dd6734aab4aab" /><Relationship Type="http://schemas.openxmlformats.org/officeDocument/2006/relationships/slideLayout" Target="/ppt/slideLayouts/slideLayout2.xml" Id="R54bef677f5924902" /><Relationship Type="http://schemas.openxmlformats.org/officeDocument/2006/relationships/slideLayout" Target="/ppt/slideLayouts/slideLayout3.xml" Id="Rbe48f807fc8e49a9" /><Relationship Type="http://schemas.openxmlformats.org/officeDocument/2006/relationships/slideLayout" Target="/ppt/slideLayouts/slideLayout4.xml" Id="Rfeeae88b9d3a4a39" /><Relationship Type="http://schemas.openxmlformats.org/officeDocument/2006/relationships/slideLayout" Target="/ppt/slideLayouts/slideLayout5.xml" Id="R8019d672fc904d90" /><Relationship Type="http://schemas.openxmlformats.org/officeDocument/2006/relationships/slideLayout" Target="/ppt/slideLayouts/slideLayout6.xml" Id="R3595e1236ba049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7dd6734aab4aab"/>
    <p:sldLayoutId xmlns:r="http://schemas.openxmlformats.org/officeDocument/2006/relationships" id="2147483650" r:id="R54bef677f5924902"/>
    <p:sldLayoutId xmlns:r="http://schemas.openxmlformats.org/officeDocument/2006/relationships" id="2147483651" r:id="Rbe48f807fc8e49a9"/>
    <p:sldLayoutId xmlns:r="http://schemas.openxmlformats.org/officeDocument/2006/relationships" id="2147483652" r:id="Rfeeae88b9d3a4a39"/>
    <p:sldLayoutId xmlns:r="http://schemas.openxmlformats.org/officeDocument/2006/relationships" id="2147483653" r:id="R8019d672fc904d90"/>
    <p:sldLayoutId xmlns:r="http://schemas.openxmlformats.org/officeDocument/2006/relationships" id="2147483654" r:id="R3595e1236ba049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a3197b101748e9" /><Relationship Type="http://schemas.openxmlformats.org/officeDocument/2006/relationships/image" Target="/ppt/media/image.png" Id="R4c9ba54a20b84420" /><Relationship Type="http://schemas.openxmlformats.org/officeDocument/2006/relationships/notesSlide" Target="/ppt/notesSlides/notesSlide1.xml" Id="R6271456b8b6c4f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88dc8e4b924fb9" /><Relationship Type="http://schemas.openxmlformats.org/officeDocument/2006/relationships/image" Target="/ppt/media/image2.png" Id="R43fdceb395454992" /><Relationship Type="http://schemas.openxmlformats.org/officeDocument/2006/relationships/notesSlide" Target="/ppt/notesSlides/notesSlide2.xml" Id="R257f9d1b304a4e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b6009f3a364557" /><Relationship Type="http://schemas.openxmlformats.org/officeDocument/2006/relationships/image" Target="/ppt/media/image3.png" Id="Rbb7cbd59d5d64c0a" /><Relationship Type="http://schemas.openxmlformats.org/officeDocument/2006/relationships/notesSlide" Target="/ppt/notesSlides/notesSlide3.xml" Id="Re14efa3aca4243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41d7569a1e4c7b" /><Relationship Type="http://schemas.openxmlformats.org/officeDocument/2006/relationships/image" Target="/ppt/media/image4.png" Id="Rce400ec0cc6b48d3" /><Relationship Type="http://schemas.openxmlformats.org/officeDocument/2006/relationships/notesSlide" Target="/ppt/notesSlides/notesSlide4.xml" Id="R2a3e079eab214c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7c1f90b264475a" /><Relationship Type="http://schemas.openxmlformats.org/officeDocument/2006/relationships/image" Target="/ppt/media/image5.png" Id="R1299df69cbae4982" /><Relationship Type="http://schemas.openxmlformats.org/officeDocument/2006/relationships/notesSlide" Target="/ppt/notesSlides/notesSlide5.xml" Id="Rc751b87aa09747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5fb58a16484fd6" /><Relationship Type="http://schemas.openxmlformats.org/officeDocument/2006/relationships/image" Target="/ppt/media/image6.png" Id="Re111c2468e9249e4" /><Relationship Type="http://schemas.openxmlformats.org/officeDocument/2006/relationships/notesSlide" Target="/ppt/notesSlides/notesSlide6.xml" Id="Rb5fcf6ce6a9947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be6e3354014bca" /><Relationship Type="http://schemas.openxmlformats.org/officeDocument/2006/relationships/image" Target="/ppt/media/image7.png" Id="R817ec0042e4047ef" /><Relationship Type="http://schemas.openxmlformats.org/officeDocument/2006/relationships/notesSlide" Target="/ppt/notesSlides/notesSlide7.xml" Id="R993456e224894d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aa82a094024b8d" /><Relationship Type="http://schemas.openxmlformats.org/officeDocument/2006/relationships/image" Target="/ppt/media/image8.png" Id="Rd0f2a6a780d24111" /><Relationship Type="http://schemas.openxmlformats.org/officeDocument/2006/relationships/notesSlide" Target="/ppt/notesSlides/notesSlide8.xml" Id="R62c7ef1efad5426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DCE03-346E-41C9-8695-7DAB6B4129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ba54a20b8442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415F3-4F35-4DD7-8107-3ACFAA5F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C6D4E6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6D4E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C6D4E6"/>
                </a:solidFill>
                <a:latin typeface="Arial Unicode MS"/>
                <a:ea typeface="Arial Unicode MS"/>
                <a:cs typeface="Arial Unicode MS"/>
              </a:rPr>
              <a:t>仓颉生态创新开发挑战赛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B99CC-F502-4BDE-B93E-3181F59D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809750"/>
            <a:ext cx="71437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8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8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8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regex4cj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0A4F42-DD53-4236-8254-35D6C516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0"/>
            <a:ext cx="7143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仓颉原生</a:t>
            </a:r>
          </a:p>
          <a:p xmlns:a="http://schemas.openxmlformats.org/drawingml/2006/main">
            <a:pPr>
              <a:defRPr sz="345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正则表达式库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C10D3C-BF2A-43AD-A873-A7E94C76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95875"/>
            <a:ext cx="8096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按规则查找、提取与处理文本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E015E-97B1-4FA7-ABBB-604E465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076950"/>
            <a:ext cx="904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rPr>
              <a:t>基于 Rust regex 的移植与适配</a:t>
            </a:r>
          </a:p>
        </p:txBody>
      </p:sp>
    </p:spTree>
    <p:extLst>
      <p:ext uri="{BB962C8B-B14F-4D97-AF65-F5344CB8AC3E}">
        <p14:creationId xmlns:p14="http://schemas.microsoft.com/office/powerpoint/2010/main" val="8755681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97E6EC-D207-482A-B3CE-0D2AAC71A9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dceb395454992"/>
          <a:srcRect xmlns:a="http://schemas.openxmlformats.org/drawingml/2006/main" l="0" t="0" r="50000" b="5000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6E7AF-5771-4914-BA25-6FC3575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02  /  REGEX4CJ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778A8E-681D-42BC-AA91-310C2E81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"/>
            <a:ext cx="10953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用一段仓颉代码，提取订单号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CB4221-58F6-4421-8CE5-45FE3D3B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4714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原始文本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7B4217-4829-4E85-9D92-251B767C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28850"/>
            <a:ext cx="46196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订单 AB-123 已付款；</a:t>
            </a:r>
          </a:p>
          <a:p xmlns:a="http://schemas.openxmlformats.org/drawingml/2006/main">
            <a:pPr>
              <a:defRPr sz="217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订单 CD-456 待发货；</a:t>
            </a:r>
          </a:p>
          <a:p xmlns:a="http://schemas.openxmlformats.org/drawingml/2006/main">
            <a:pPr>
              <a:defRPr sz="217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咨询已回复。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35A942-D491-4DBD-9836-9EE379CC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4619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识别规则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D74CE-89D8-43AE-B5CD-6E3FF529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4714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[A-Z]{2}-[0-9]{3}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560AA-72EC-4C07-919A-D974419E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81550"/>
            <a:ext cx="4619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两个大写字母 + 连字符 + 三位数字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47EBCB-5880-4763-9995-EC20B966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76875"/>
            <a:ext cx="4429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得到订单号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46D11-E774-46C8-95C3-3F5CE881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8645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AB-123   CD-456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2A3F31-52D8-40BF-9087-1CD1C1CF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1781175"/>
            <a:ext cx="6191250" cy="473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62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76E22D-BAF3-4E0E-8448-F2BB4AB3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1990725"/>
            <a:ext cx="561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85A8C9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85A8C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85A8C9"/>
                </a:solidFill>
                <a:latin typeface="Arial Unicode MS"/>
                <a:ea typeface="Arial Unicode MS"/>
                <a:cs typeface="Arial Unicode MS"/>
              </a:rPr>
              <a:t>CANGJIE  /  实际调用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8846BF-0364-4FEE-B48D-75AED7C9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76500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rPr>
              <a:t>package slide_example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6BEF1-1D59-42EC-AC19-CAD73CF1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52725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2D7A37-4C81-4467-A9E6-E21AD8D8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028950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rPr>
              <a:t>import regex4cj.*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4AC11F-9327-4AA7-A8C4-4EF93533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305175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B58095-E0DD-4995-9561-226AB197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581400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9C8FF"/>
                </a:solidFill>
                <a:latin typeface="Arial Unicode MS"/>
                <a:ea typeface="Arial Unicode MS"/>
                <a:cs typeface="Arial Unicode MS"/>
              </a:rPr>
              <a:t>main(): Unit {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49E01C-8B13-41F8-9508-2A348864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57625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    let text = "订单 AB-123 已付款；" +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06B98E-2319-4B49-A26F-4CD0378D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133850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rPr>
              <a:t>        "订单 CD-456 待发货；咨询已回复。"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091948-227E-4C21-B5DA-F67E803D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10075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    let rule = Regex("[A-Z]{2}-[0-9]{3}")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E88063-DE89-4C86-8DEE-2B1C0093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686300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665045-755C-49F4-BE5C-D3B579DF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62525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rPr>
              <a:t>    for (m in rule.findAll(text)) {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4AC68B-3C8D-4CD8-BD5C-1BB855FB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238750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FD59B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FD59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FD59B"/>
                </a:solidFill>
                <a:latin typeface="Arial Unicode MS"/>
                <a:ea typeface="Arial Unicode MS"/>
                <a:cs typeface="Arial Unicode MS"/>
              </a:rPr>
              <a:t>        println(m.text)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417769-A4F7-4E49-9F94-709016ED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514975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rPr>
              <a:t>    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5AD36D-772E-4C90-9344-C6FE4F32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791200"/>
            <a:ext cx="5676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E9F0FA"/>
                </a:solidFill>
                <a:latin typeface="Arial Unicode MS"/>
                <a:ea typeface="Arial Unicode MS"/>
                <a:cs typeface="Arial Unicode M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2392778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C68E1B-8AD5-401B-A384-B8C181F09C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7cbd59d5d64c0a"/>
          <a:srcRect xmlns:a="http://schemas.openxmlformats.org/drawingml/2006/main" l="50000" t="0" r="0" b="5000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E1C19A-4EAC-4A0D-8638-89C99F82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08D43-072E-4A7A-8A6D-EA34E852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03  /  REGEX4CJ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B7DDD-A170-4715-843C-77D30F14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"/>
            <a:ext cx="10953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功能全景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1B3B7-B481-4934-8180-F601CF5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4382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常用文本处理直接调用，语法与引擎能力按需扩展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FE648-3CF3-4B99-AC80-41E173B8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171700"/>
            <a:ext cx="16859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51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51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1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2D013-0865-4D94-A944-0FBAF6C9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105150"/>
            <a:ext cx="2714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应用能力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E656F-386A-44BB-9123-3CD9F985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81425"/>
            <a:ext cx="2952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Regex / BytesRegex</a:t>
            </a:r>
          </a:p>
          <a:p xmlns:a="http://schemas.openxmlformats.org/drawingml/2006/main">
            <a:pPr>
              <a:def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RegexSet / BytesRegexSet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CB4EB-1EE0-4955-A814-E0D1763C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71700"/>
            <a:ext cx="3571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匹配与查找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39E9F-0121-4006-84D5-BBC47B27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28900"/>
            <a:ext cx="3571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匹配判断、单次查找、全部匹配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825472-35CA-479D-A729-B1F2A834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171700"/>
            <a:ext cx="3571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捕获与变换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438DC-9F90-486D-80A1-447200FE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28900"/>
            <a:ext cx="3571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分组提取、替换、脱敏、拆分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374350-C015-44DC-915A-CA317ED2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33750"/>
            <a:ext cx="3571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迭代与配置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03C321-31C0-4D78-A086-A676040C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90950"/>
            <a:ext cx="3571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惰性迭代、起点搜索、Builder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589ECD-5227-4DAF-8BA2-B2EC61BB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33750"/>
            <a:ext cx="3571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字符与规则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A132DC-B5B7-4910-890A-A9B178BC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90950"/>
            <a:ext cx="3571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Unicode 16、字符类、多行与大小写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4CFE89-016B-46D9-94C9-36EAE3F8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29225"/>
            <a:ext cx="1000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02  语法与执行扩展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F3D021-DEA1-4A65-A650-AA211168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10382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部分 AST/HIR · 字面量提取 · Thompson NFA · PikeVM · 有限回溯</a:t>
            </a:r>
          </a:p>
          <a:p xmlns:a="http://schemas.openxmlformats.org/drawingml/2006/main">
            <a:pPr>
              <a:defRPr sz="172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Dense / Sparse / Hybrid DFA · 部分 Meta 接口</a:t>
            </a:r>
          </a:p>
        </p:txBody>
      </p:sp>
    </p:spTree>
    <p:extLst>
      <p:ext uri="{BB962C8B-B14F-4D97-AF65-F5344CB8AC3E}">
        <p14:creationId xmlns:p14="http://schemas.microsoft.com/office/powerpoint/2010/main" val="9931392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CD58D-DD42-4EA3-BD1B-CC41A8B1B1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00ec0cc6b48d3"/>
          <a:srcRect xmlns:a="http://schemas.openxmlformats.org/drawingml/2006/main" l="0" t="50000" r="5000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C1408E-EC4C-4E8D-8B6B-36F3C49F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2A">
              <a:alpha val="4800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513E39-F957-44C2-9A4C-7F830613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rPr>
              <a:t>04  /  REGEX4CJ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BCAC6A-111F-40F4-A136-F9561912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"/>
            <a:ext cx="10953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一条规则的执行过程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ACD23-D15C-480E-836A-08792C98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4382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rPr>
              <a:t>仓颉原生实现解析、编译与匹配，运行时不调用 Rust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F22713-F68B-4CB3-A187-7CF16E63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8BDD9C-4680-4584-9E44-0BD4F75E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25431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解析规则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7CD7B-AE2A-4CA3-9EBD-6D84BA49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2495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rPr>
              <a:t>字符、分组、重复关系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AD3298-046D-4CD3-B046-EF6F9612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6003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4864A-45BF-42F5-BA25-D2511E6C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324100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D0E78-50C1-4EDF-A9B3-B04D88C8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429000"/>
            <a:ext cx="25431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编译结构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F72956-DB37-407D-96C9-DDDE1B72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048125"/>
            <a:ext cx="2495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rPr>
              <a:t>转换为匹配指令与状态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B92FF9-F13D-4549-B09F-8B752AEB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003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338DE-98E9-4587-8483-8F2F50CD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24100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4B93FC-01F8-471B-A912-C1D109D4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29000"/>
            <a:ext cx="25431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扫描文本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E03C3-1083-4769-86B3-C59FA4B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48125"/>
            <a:ext cx="2495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rPr>
              <a:t>查找命中并记录分组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D442DF-0103-4A3B-8F71-A6150D43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6003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0">
                <a:solidFill>
                  <a:srgbClr val="6F94BC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1B4B99-294E-4E13-811D-F5AB4276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24100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55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CE54F5-D30F-408C-BFB5-F642D047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429000"/>
            <a:ext cx="25431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返回结果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0A131D-5D56-4A0B-AB94-A50EA763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048125"/>
            <a:ext cx="2495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5C8DF"/>
                </a:solidFill>
                <a:latin typeface="Arial Unicode MS"/>
                <a:ea typeface="Arial Unicode MS"/>
                <a:cs typeface="Arial Unicode MS"/>
              </a:rPr>
              <a:t>内容、位置与变换结果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F7AC71-B133-4356-93FF-3E5A4D8A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91125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AI 辅助分析与实现     /     以编译和结果对照修正行为</a:t>
            </a:r>
          </a:p>
        </p:txBody>
      </p:sp>
    </p:spTree>
    <p:extLst>
      <p:ext uri="{BB962C8B-B14F-4D97-AF65-F5344CB8AC3E}">
        <p14:creationId xmlns:p14="http://schemas.microsoft.com/office/powerpoint/2010/main" val="7364204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1BD82-4D31-4BC2-8FC0-AEE5E13AE7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9df69cbae4982"/>
          <a:srcRect xmlns:a="http://schemas.openxmlformats.org/drawingml/2006/main" l="50000" t="0" r="0" b="5000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DAF7A-E687-477A-A493-2836E606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CF643-EB49-44F5-80F7-2DF297CE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05  /  REGEX4CJ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E51BC-3DF9-4505-889F-EBE28472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"/>
            <a:ext cx="10953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测试组织：功能、特性与案例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08B2FA-C4DD-4162-BD82-BF28DC5C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4382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先明确每项特性的预期，再检查实际结果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458C1-D67B-435F-9D82-EB894A3B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66925"/>
            <a:ext cx="285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780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780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800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8893B-4398-43D8-B4E7-498FBBF0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528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个功能组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9C224-671D-4B98-AA5A-27F49454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81450"/>
            <a:ext cx="350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查找、捕获、替换、分割</a:t>
            </a:r>
          </a:p>
          <a:p xmlns:a="http://schemas.openxmlformats.org/drawingml/2006/main">
            <a:pPr>
              <a:def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多规则、Unicode、语法与引擎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3E305-7EFF-4ED1-8641-41415D55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672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正常输入、边界情况、异常行为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E89635-0F85-48F0-B6A1-C0762336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05025"/>
            <a:ext cx="685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功能示例：查找首个匹配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0D10FE-570A-488B-89DB-3DA7B995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62225"/>
            <a:ext cx="685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规则 [0-9]+  用于识别连续数字</a:t>
            </a:r>
          </a:p>
        </p:txBody>
      </p:sp>
      <p:graphicFrame>
        <p:nvGraphicFrame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BE5097-611C-48C2-9290-2A92F1CA4019}"/>
              </a:ext>
            </a:extLst>
          </p:cNvPr>
          <p:cNvGraphicFramePr/>
          <p:nvPr/>
        </p:nvGraphicFramePr>
        <p:xfrm>
          <a:off xmlns:a="http://schemas.openxmlformats.org/drawingml/2006/main" x="4524375" y="3038475"/>
          <a:ext xmlns:a="http://schemas.openxmlformats.org/drawingml/2006/main" cx="6924675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943225"/>
                <a:gridCol w="1981200"/>
              </a:tblGrid>
              <a:tr h="4476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特性</a:t>
                      </a:r>
                    </a:p>
                  </a:txBody>
                  <a:tcPr marL="91440" marR="91440" marT="45720" marB="45720">
                    <a:solidFill>
                      <a:srgbClr val="E4ED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输入文本</a:t>
                      </a:r>
                    </a:p>
                  </a:txBody>
                  <a:tcPr marL="91440" marR="91440" marT="45720" marB="45720">
                    <a:solidFill>
                      <a:srgbClr val="E4ED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预期结果</a:t>
                      </a:r>
                    </a:p>
                  </a:txBody>
                  <a:tcPr marL="91440" marR="91440" marT="45720" marB="45720">
                    <a:solidFill>
                      <a:srgbClr val="E4ED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</a:tr>
              <a:tr h="4476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普通输入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订单123已完成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5CE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123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</a:tr>
              <a:tr h="4476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多个结果</a:t>
                      </a:r>
                    </a:p>
                  </a:txBody>
                  <a:tcPr marL="91440" marR="91440" marT="45720" marB="45720">
                    <a:solidFill>
                      <a:srgbClr val="F2F6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12和34</a:t>
                      </a:r>
                    </a:p>
                  </a:txBody>
                  <a:tcPr marL="91440" marR="91440" marT="45720" marB="45720">
                    <a:solidFill>
                      <a:srgbClr val="F2F6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5CE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2F6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</a:tr>
              <a:tr h="4476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没有匹配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没有数字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5CE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无匹配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</a:tr>
              <a:tr h="4476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空文本</a:t>
                      </a:r>
                    </a:p>
                  </a:txBody>
                  <a:tcPr marL="91440" marR="91440" marT="45720" marB="45720">
                    <a:solidFill>
                      <a:srgbClr val="F2F6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0233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空字符串</a:t>
                      </a:r>
                    </a:p>
                  </a:txBody>
                  <a:tcPr marL="91440" marR="91440" marT="45720" marB="45720">
                    <a:solidFill>
                      <a:srgbClr val="F2F6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5CE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无匹配</a:t>
                      </a:r>
                    </a:p>
                  </a:txBody>
                  <a:tcPr marL="91440" marR="91440" marT="45720" marB="45720">
                    <a:solidFill>
                      <a:srgbClr val="F2F6FC"/>
                    </a:solidFill>
                    <a:lnL w="6350">
                      <a:solidFill>
                        <a:srgbClr val="DCE5F1"/>
                      </a:solidFill>
                    </a:lnL>
                    <a:lnR w="6350">
                      <a:solidFill>
                        <a:srgbClr val="DCE5F1"/>
                      </a:solidFill>
                    </a:lnR>
                    <a:lnT w="6350">
                      <a:solidFill>
                        <a:srgbClr val="DCE5F1"/>
                      </a:solidFill>
                    </a:lnT>
                    <a:lnB w="6350">
                      <a:solidFill>
                        <a:srgbClr val="DCE5F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70C3A6-9820-4C76-A56B-ED72F7BB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340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独立预期与 Rust 原仓库双重核对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60A2F-45B7-48EE-BB46-2A242B12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44 个具名案例      61 项仓颉测试      47 个批量回归套件</a:t>
            </a:r>
          </a:p>
        </p:txBody>
      </p:sp>
    </p:spTree>
    <p:extLst>
      <p:ext uri="{BB962C8B-B14F-4D97-AF65-F5344CB8AC3E}">
        <p14:creationId xmlns:p14="http://schemas.microsoft.com/office/powerpoint/2010/main" val="177212908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7DC57F-6C1C-4B77-A70C-3858A81942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11c2468e9249e4"/>
          <a:srcRect xmlns:a="http://schemas.openxmlformats.org/drawingml/2006/main" l="0" t="50000" r="5000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DC1A3-0DE1-46DC-9C00-AD070680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2A">
              <a:alpha val="4800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957FF-1A55-488B-9474-A7F6874F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rPr>
              <a:t>06  /  REGEX4CJ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336A04-0864-4701-B832-8CB2AC10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"/>
            <a:ext cx="10953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视频演示流程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F722E-E686-446B-8CA4-78E156FD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4382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2C5DA"/>
                </a:solidFill>
                <a:latin typeface="Arial Unicode MS"/>
                <a:ea typeface="Arial Unicode MS"/>
                <a:cs typeface="Arial Unicode MS"/>
              </a:rPr>
              <a:t>从一次调用，到功能展示，再到自动化验证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A6012F-A4EE-43DD-AC26-13E67749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266950"/>
            <a:ext cx="1285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1BA88C-2884-417A-9356-5EEC4286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305050"/>
            <a:ext cx="39909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接入与调用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5A6AA9-2546-4B9B-8C96-E2B1180F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914650"/>
            <a:ext cx="39909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rPr>
              <a:t>展示仓颉程序</a:t>
            </a:r>
          </a:p>
          <a:p xmlns:a="http://schemas.openxmlformats.org/drawingml/2006/main">
            <a: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rPr>
              <a:t>输入规则并获取结果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7D413-F414-4962-A656-7C890462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66950"/>
            <a:ext cx="1285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2A861-D1D3-4792-A150-4A81C8D8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305050"/>
            <a:ext cx="39909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常用文本处理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4808C-DF1E-41C1-A1D7-9AFC49E5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914650"/>
            <a:ext cx="39909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rPr>
              <a:t>订单提取与格式校验</a:t>
            </a:r>
          </a:p>
          <a:p xmlns:a="http://schemas.openxmlformats.org/drawingml/2006/main">
            <a: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rPr>
              <a:t>分组捕获、替换与拆分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03FBC-F7E0-448A-8111-C282A5EA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67175"/>
            <a:ext cx="1285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B77562-60B0-4673-974B-BD59C8E2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105275"/>
            <a:ext cx="39909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扩展能力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01E2C-3522-4382-ABD4-904DB366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39909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rPr>
              <a:t>多规则分类、字节处理</a:t>
            </a:r>
          </a:p>
          <a:p xmlns:a="http://schemas.openxmlformats.org/drawingml/2006/main">
            <a: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rPr>
              <a:t>语法与引擎接口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B1F8C5-3C78-43B2-B4E0-30893DE7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067175"/>
            <a:ext cx="1285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800" b="0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3E36D7-283C-4077-9622-1BF6BFEC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4105275"/>
            <a:ext cx="39909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结果验证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CAE13C-5647-437A-8A49-392956DA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4714875"/>
            <a:ext cx="39909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rPr>
              <a:t>运行对照检查</a:t>
            </a:r>
          </a:p>
          <a:p xmlns:a="http://schemas.openxmlformats.org/drawingml/2006/main">
            <a:pPr>
              <a:def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BCCDE0"/>
                </a:solidFill>
                <a:latin typeface="Arial Unicode MS"/>
                <a:ea typeface="Arial Unicode MS"/>
                <a:cs typeface="Arial Unicode MS"/>
              </a:rPr>
              <a:t>查看通过项与记录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F21470-F42C-43F6-8824-054CCFB7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1245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调用代码  →  观察输出  →  核对结果</a:t>
            </a:r>
          </a:p>
        </p:txBody>
      </p:sp>
    </p:spTree>
    <p:extLst>
      <p:ext uri="{BB962C8B-B14F-4D97-AF65-F5344CB8AC3E}">
        <p14:creationId xmlns:p14="http://schemas.microsoft.com/office/powerpoint/2010/main" val="8499468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AE3485-2D1B-4064-8D11-7B82D9E267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ec0042e4047ef"/>
          <a:srcRect xmlns:a="http://schemas.openxmlformats.org/drawingml/2006/main" l="0" t="0" r="50000" b="5000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E1357A-01A6-4520-8F46-8512FE5F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07  /  REGEX4CJ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3918A1-E210-4881-9098-502A19BA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"/>
            <a:ext cx="10953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交付的是可直接接入的仓颉库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EEFD7E-AB45-4CCD-BE80-483DC4DB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9A5EA-BE69-4825-ABD1-0593D581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124075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添加 regex4cj 依赖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2CBD8-667D-42D4-B321-F876E1EE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705100"/>
            <a:ext cx="809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调用 Regex 等接口处理业务文本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F5CF5-D2A8-46CF-BF09-008A1BA5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使用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0418B-6C8F-4CBC-B479-D19BFE21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56235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源码 + 调用示例 + 接口文档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7C4F01-2E6C-425F-896A-8F625118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143375"/>
            <a:ext cx="809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从示例开始，按实际场景编写规则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A506AB-D002-446A-B7CA-DF0A67F5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75" b="1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C386FA-2A41-4716-A6BA-C902C82C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01967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0233D"/>
                </a:solidFill>
                <a:latin typeface="Arial Unicode MS"/>
                <a:ea typeface="Arial Unicode MS"/>
                <a:cs typeface="Arial Unicode MS"/>
              </a:rPr>
              <a:t>测试数据 + 验证脚本 + 结果记录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27EE21-FE91-4DB6-A3F5-F437C3C0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600700"/>
            <a:ext cx="809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B6C83"/>
                </a:solidFill>
                <a:latin typeface="Arial Unicode MS"/>
                <a:ea typeface="Arial Unicode MS"/>
                <a:cs typeface="Arial Unicode MS"/>
              </a:rPr>
              <a:t>公开实现范围，保留原仓库来源与开源许可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A434F1-6E4D-4E03-9DDD-C50BCEEA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722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5CE0"/>
                </a:solidFill>
                <a:latin typeface="Arial Unicode MS"/>
                <a:ea typeface="Arial Unicode MS"/>
                <a:cs typeface="Arial Unicode MS"/>
              </a:rPr>
              <a:t>已验证环境：STS 仓颉 1.1.3 / Apple Silicon macOS</a:t>
            </a:r>
          </a:p>
        </p:txBody>
      </p:sp>
    </p:spTree>
    <p:extLst>
      <p:ext uri="{BB962C8B-B14F-4D97-AF65-F5344CB8AC3E}">
        <p14:creationId xmlns:p14="http://schemas.microsoft.com/office/powerpoint/2010/main" val="10835556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1E33F2-DE7C-4B79-87F7-08C52D146A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f2a6a780d24111"/>
          <a:srcRect xmlns:a="http://schemas.openxmlformats.org/drawingml/2006/main" l="50000" t="5000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008780-F61F-4E86-B369-B0419115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93ACC8"/>
                </a:solidFill>
                <a:latin typeface="Arial Unicode MS"/>
                <a:ea typeface="Arial Unicode MS"/>
                <a:cs typeface="Arial Unicode MS"/>
              </a:rPr>
              <a:t>08  /  REGEX4CJ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22C9A-4B83-4BDC-89CA-2490077D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"/>
            <a:ext cx="10953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当前成果与后续方向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54247-EDA6-4C08-ADDE-9D168ACB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009775"/>
            <a:ext cx="98107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让文本处理能力</a:t>
            </a:r>
          </a:p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在仓颉中可用、可验证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71B70-B98E-4D6A-951F-C8DA1D62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10025"/>
            <a:ext cx="3857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15ADE-9DC1-4E78-82EA-283FAC27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72000"/>
            <a:ext cx="57816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常用正则处理与多规则匹配</a:t>
            </a:r>
          </a:p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部分语法、自动机与引擎接口</a:t>
            </a:r>
          </a:p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源码、示例和验证材料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68A4D-E081-407B-9811-CC6C9761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10025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B3F1ED"/>
                </a:solidFill>
                <a:latin typeface="Arial Unicode MS"/>
                <a:ea typeface="Arial Unicode MS"/>
                <a:cs typeface="Arial Unicode MS"/>
              </a:rPr>
              <a:t>继续完善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A1D98D-C277-4AA7-8ED1-A8C0A230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572000"/>
            <a:ext cx="4476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补齐原仓库行为</a:t>
            </a:r>
          </a:p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增加跨平台验证</a:t>
            </a:r>
          </a:p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建立性能基准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BAE766-B6CF-4BC9-A753-C80DBDBC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257925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ACBDD3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ACBDD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ACBDD3"/>
                </a:solidFill>
                <a:latin typeface="Arial Unicode MS"/>
                <a:ea typeface="Arial Unicode MS"/>
                <a:cs typeface="Arial Unicode MS"/>
              </a:rPr>
              <a:t>当前版本尚非原仓库全部功能的等价替代</a:t>
            </a:r>
          </a:p>
        </p:txBody>
      </p:sp>
    </p:spTree>
    <p:extLst>
      <p:ext uri="{BB962C8B-B14F-4D97-AF65-F5344CB8AC3E}">
        <p14:creationId xmlns:p14="http://schemas.microsoft.com/office/powerpoint/2010/main" val="11517693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2026-10-06T10:51:35.9770000Z</dcterms:created>
  <dcterms:modified xsi:type="dcterms:W3CDTF">2026-10-06T10:51:35.9780000Z</dcterms:modified>
</coreProperties>
</file>