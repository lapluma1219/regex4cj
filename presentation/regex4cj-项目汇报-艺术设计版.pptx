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52"/>
    <p:restoredTop sz="94647"/>
  </p:normalViewPr>
  <p:slideViewPr>
    <p:cSldViewPr snapToGrid="0">
      <p:cViewPr varScale="1">
        <p:scale>
          <a:sx n="149" d="100"/>
          <a:sy n="149" d="100"/>
        </p:scale>
        <p:origin x="19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C760B17-3138-4BF6-9A6A-421D9FC0D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FF81D0F8-2946-4622-B33D-2BC7989F32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27CAF592-12AB-45CF-8173-E2A20F96C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88684F97-2EF3-47EE-A575-86D32AAA5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20C680BC-CE36-4D39-8893-2490CF4F5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8381C0EF-8165-4465-B6F3-4FC2F417B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A5593113-3C8F-48CD-B42D-8F8E1A8202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D33FE112-CD3E-4B8A-A111-E8BF23AFBA3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6E930A71-FD5E-41F4-BE0A-5A6748D5B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CB8C06A2-358A-4052-AEF5-514BED861F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558DCE03-346E-41C9-8695-7DAB6B4129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EB4415F3-4F35-4DD7-8107-3ACFAA5FAE92}"/>
              </a:ext>
            </a:extLst>
          </p:cNvPr>
          <p:cNvSpPr>
            <a:spLocks noGrp="1"/>
          </p:cNvSpPr>
          <p:nvPr/>
        </p:nvSpPr>
        <p:spPr>
          <a:xfrm>
            <a:off x="571500" y="428625"/>
            <a:ext cx="7620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0">
                <a:solidFill>
                  <a:srgbClr val="C6D4E6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650" b="0">
                <a:solidFill>
                  <a:srgbClr val="C6D4E6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C6D4E6"/>
                </a:solidFill>
                <a:latin typeface="Arial Unicode MS"/>
                <a:ea typeface="Arial Unicode MS"/>
                <a:cs typeface="Arial Unicode MS"/>
              </a:rPr>
              <a:t>仓颉生态创新开发挑战赛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D9B99CC-F502-4BDE-B93E-3181F59D987F}"/>
              </a:ext>
            </a:extLst>
          </p:cNvPr>
          <p:cNvSpPr>
            <a:spLocks noGrp="1"/>
          </p:cNvSpPr>
          <p:nvPr/>
        </p:nvSpPr>
        <p:spPr>
          <a:xfrm>
            <a:off x="571500" y="1109662"/>
            <a:ext cx="7143750" cy="13144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8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8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8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regex4cj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90A4F42-DD53-4236-8254-35D6C5168302}"/>
              </a:ext>
            </a:extLst>
          </p:cNvPr>
          <p:cNvSpPr>
            <a:spLocks noGrp="1"/>
          </p:cNvSpPr>
          <p:nvPr/>
        </p:nvSpPr>
        <p:spPr>
          <a:xfrm>
            <a:off x="571500" y="2724149"/>
            <a:ext cx="7143750" cy="1257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45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45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仓颉原生</a:t>
            </a:r>
          </a:p>
          <a:p>
            <a:pPr>
              <a:defRPr sz="345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45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正则表达式库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1C10D3C-BF2A-43AD-A873-A7E94C765DF9}"/>
              </a:ext>
            </a:extLst>
          </p:cNvPr>
          <p:cNvSpPr>
            <a:spLocks noGrp="1"/>
          </p:cNvSpPr>
          <p:nvPr/>
        </p:nvSpPr>
        <p:spPr>
          <a:xfrm>
            <a:off x="571500" y="5064852"/>
            <a:ext cx="8096250" cy="4476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en-US"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队伍名</a:t>
            </a:r>
            <a:r>
              <a:rPr lang="zh-CN" altLang="en-US" sz="210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：暂定中</a:t>
            </a:r>
            <a:endParaRPr lang="en-US" altLang="zh-CN" sz="2100">
              <a:solidFill>
                <a:srgbClr val="FFFFFF"/>
              </a:solidFill>
              <a:latin typeface="Arial Unicode MS"/>
              <a:ea typeface="Arial Unicode MS"/>
              <a:cs typeface="Arial Unicode MS"/>
            </a:endParaRPr>
          </a:p>
          <a:p>
            <a:pPr>
              <a:defRPr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lang="zh-CN" altLang="en-US" sz="2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成员：闫家梁    刘孝凡（武汉大学）</a:t>
            </a:r>
            <a:endParaRPr sz="2100" b="0">
              <a:solidFill>
                <a:srgbClr val="FFFFFF"/>
              </a:solidFill>
              <a:latin typeface="Arial Unicode MS"/>
              <a:ea typeface="Arial Unicode MS"/>
              <a:cs typeface="Arial Unicode M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94E015E-97B1-4FA7-ABBB-604E46553DAF}"/>
              </a:ext>
            </a:extLst>
          </p:cNvPr>
          <p:cNvSpPr>
            <a:spLocks noGrp="1"/>
          </p:cNvSpPr>
          <p:nvPr/>
        </p:nvSpPr>
        <p:spPr>
          <a:xfrm>
            <a:off x="571500" y="4100514"/>
            <a:ext cx="9048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650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rPr>
              <a:t>基于 Rust regex 的移植与适配</a:t>
            </a:r>
          </a:p>
        </p:txBody>
      </p:sp>
    </p:spTree>
    <p:extLst>
      <p:ext uri="{BB962C8B-B14F-4D97-AF65-F5344CB8AC3E}">
        <p14:creationId xmlns:p14="http://schemas.microsoft.com/office/powerpoint/2010/main" val="8755681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>
            <a:extLst>
              <a:ext uri="{FF2B5EF4-FFF2-40B4-BE49-F238E27FC236}">
                <a16:creationId xmlns:a16="http://schemas.microsoft.com/office/drawing/2014/main" id="{E197E6EC-D207-482A-B3CE-0D2AAC71A94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CBD6E7AF-5771-4914-BA25-6FC3575D53C6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02  /  REGEX4CJ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8778A8E-681D-42BC-AA91-310C2E816897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用一段仓颉代码，提取订单号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CB4221-58F6-4421-8CE5-45FE3D3BFCC9}"/>
              </a:ext>
            </a:extLst>
          </p:cNvPr>
          <p:cNvSpPr>
            <a:spLocks noGrp="1"/>
          </p:cNvSpPr>
          <p:nvPr/>
        </p:nvSpPr>
        <p:spPr>
          <a:xfrm>
            <a:off x="552450" y="1790700"/>
            <a:ext cx="471487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原始文本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C7B4217-4829-4E85-9D92-251B767C265A}"/>
              </a:ext>
            </a:extLst>
          </p:cNvPr>
          <p:cNvSpPr>
            <a:spLocks noGrp="1"/>
          </p:cNvSpPr>
          <p:nvPr/>
        </p:nvSpPr>
        <p:spPr>
          <a:xfrm>
            <a:off x="552450" y="2228850"/>
            <a:ext cx="4619625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订单 AB-123 已付款；</a:t>
            </a:r>
          </a:p>
          <a:p>
            <a:pPr>
              <a:def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订单 CD-456 待发货；</a:t>
            </a:r>
          </a:p>
          <a:p>
            <a:pPr>
              <a:def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咨询已回复。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0235A942-D491-4DBD-9836-9EE379CC5C53}"/>
              </a:ext>
            </a:extLst>
          </p:cNvPr>
          <p:cNvSpPr>
            <a:spLocks noGrp="1"/>
          </p:cNvSpPr>
          <p:nvPr/>
        </p:nvSpPr>
        <p:spPr>
          <a:xfrm>
            <a:off x="552450" y="3771900"/>
            <a:ext cx="4619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识别规则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C4D74CE-89D8-43AE-B5CD-6E3FF5290C0C}"/>
              </a:ext>
            </a:extLst>
          </p:cNvPr>
          <p:cNvSpPr>
            <a:spLocks noGrp="1"/>
          </p:cNvSpPr>
          <p:nvPr/>
        </p:nvSpPr>
        <p:spPr>
          <a:xfrm>
            <a:off x="552450" y="4171950"/>
            <a:ext cx="4714875" cy="5048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7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7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[A-Z]{2}-[0-9]{3}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B8560AA-72EC-4C07-919A-D974419E0F46}"/>
              </a:ext>
            </a:extLst>
          </p:cNvPr>
          <p:cNvSpPr>
            <a:spLocks noGrp="1"/>
          </p:cNvSpPr>
          <p:nvPr/>
        </p:nvSpPr>
        <p:spPr>
          <a:xfrm>
            <a:off x="552450" y="4781550"/>
            <a:ext cx="4619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两个大写字母 + 连字符 + 三位数字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647EBCB-5880-4763-9995-EC20B9660817}"/>
              </a:ext>
            </a:extLst>
          </p:cNvPr>
          <p:cNvSpPr>
            <a:spLocks noGrp="1"/>
          </p:cNvSpPr>
          <p:nvPr/>
        </p:nvSpPr>
        <p:spPr>
          <a:xfrm>
            <a:off x="552450" y="5476875"/>
            <a:ext cx="4429125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得到订单号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0846D11-E774-46C8-95C3-3F5CE88165FC}"/>
              </a:ext>
            </a:extLst>
          </p:cNvPr>
          <p:cNvSpPr>
            <a:spLocks noGrp="1"/>
          </p:cNvSpPr>
          <p:nvPr/>
        </p:nvSpPr>
        <p:spPr>
          <a:xfrm>
            <a:off x="552450" y="5886450"/>
            <a:ext cx="4667250" cy="514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70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70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70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AB-123   CD-456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B2A3F31-52D8-40BF-9087-1CD1C1CF64C5}"/>
              </a:ext>
            </a:extLst>
          </p:cNvPr>
          <p:cNvSpPr>
            <a:spLocks noGrp="1"/>
          </p:cNvSpPr>
          <p:nvPr/>
        </p:nvSpPr>
        <p:spPr>
          <a:xfrm>
            <a:off x="5457825" y="1781175"/>
            <a:ext cx="6191250" cy="4733925"/>
          </a:xfrm>
          <a:prstGeom prst="rect">
            <a:avLst/>
          </a:prstGeom>
          <a:solidFill>
            <a:srgbClr val="0A162A"/>
          </a:solidFill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A76E22D-BAF3-4E0E-8448-F2BB4AB3E58E}"/>
              </a:ext>
            </a:extLst>
          </p:cNvPr>
          <p:cNvSpPr>
            <a:spLocks noGrp="1"/>
          </p:cNvSpPr>
          <p:nvPr/>
        </p:nvSpPr>
        <p:spPr>
          <a:xfrm>
            <a:off x="5724525" y="1990725"/>
            <a:ext cx="5619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85A8C9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350" b="0">
                <a:solidFill>
                  <a:srgbClr val="85A8C9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350" b="0">
                <a:solidFill>
                  <a:srgbClr val="85A8C9"/>
                </a:solidFill>
                <a:latin typeface="Arial Unicode MS"/>
                <a:ea typeface="Arial Unicode MS"/>
                <a:cs typeface="Arial Unicode MS"/>
              </a:rPr>
              <a:t>CANGJIE  /  实际调用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18846BF-0364-4FEE-B48D-75AED7C9830C}"/>
              </a:ext>
            </a:extLst>
          </p:cNvPr>
          <p:cNvSpPr>
            <a:spLocks noGrp="1"/>
          </p:cNvSpPr>
          <p:nvPr/>
        </p:nvSpPr>
        <p:spPr>
          <a:xfrm>
            <a:off x="5734050" y="247650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rPr>
              <a:t>package slide_example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726BEF1-1D59-42EC-AC19-CAD73CF17FA1}"/>
              </a:ext>
            </a:extLst>
          </p:cNvPr>
          <p:cNvSpPr>
            <a:spLocks noGrp="1"/>
          </p:cNvSpPr>
          <p:nvPr/>
        </p:nvSpPr>
        <p:spPr>
          <a:xfrm>
            <a:off x="5734050" y="2752725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92D7A37-4C81-4467-A9E6-E21AD8D85106}"/>
              </a:ext>
            </a:extLst>
          </p:cNvPr>
          <p:cNvSpPr>
            <a:spLocks noGrp="1"/>
          </p:cNvSpPr>
          <p:nvPr/>
        </p:nvSpPr>
        <p:spPr>
          <a:xfrm>
            <a:off x="5734050" y="302895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rPr>
              <a:t>import regex4cj.*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CF4AC11F-9327-4AA7-A8C4-4EF935330D34}"/>
              </a:ext>
            </a:extLst>
          </p:cNvPr>
          <p:cNvSpPr>
            <a:spLocks noGrp="1"/>
          </p:cNvSpPr>
          <p:nvPr/>
        </p:nvSpPr>
        <p:spPr>
          <a:xfrm>
            <a:off x="5734050" y="3305175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4B58095-E0DD-4995-9561-226AB1973D38}"/>
              </a:ext>
            </a:extLst>
          </p:cNvPr>
          <p:cNvSpPr>
            <a:spLocks noGrp="1"/>
          </p:cNvSpPr>
          <p:nvPr/>
        </p:nvSpPr>
        <p:spPr>
          <a:xfrm>
            <a:off x="5734050" y="358140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A9C8FF"/>
                </a:solidFill>
                <a:latin typeface="Arial Unicode MS"/>
                <a:ea typeface="Arial Unicode MS"/>
                <a:cs typeface="Arial Unicode MS"/>
              </a:rPr>
              <a:t>main(): Unit {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C49E01C-8B13-41F8-9508-2A3488641C95}"/>
              </a:ext>
            </a:extLst>
          </p:cNvPr>
          <p:cNvSpPr>
            <a:spLocks noGrp="1"/>
          </p:cNvSpPr>
          <p:nvPr/>
        </p:nvSpPr>
        <p:spPr>
          <a:xfrm>
            <a:off x="5734050" y="3857625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    let text = "订单 AB-123 已付款；" +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206B98E-2319-4B49-A26F-4CD0378DF574}"/>
              </a:ext>
            </a:extLst>
          </p:cNvPr>
          <p:cNvSpPr>
            <a:spLocks noGrp="1"/>
          </p:cNvSpPr>
          <p:nvPr/>
        </p:nvSpPr>
        <p:spPr>
          <a:xfrm>
            <a:off x="5734050" y="413385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rPr>
              <a:t>        "订单 CD-456 待发货；咨询已回复。"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B091948-227E-4C21-B5DA-F67E803D9335}"/>
              </a:ext>
            </a:extLst>
          </p:cNvPr>
          <p:cNvSpPr>
            <a:spLocks noGrp="1"/>
          </p:cNvSpPr>
          <p:nvPr/>
        </p:nvSpPr>
        <p:spPr>
          <a:xfrm>
            <a:off x="5734050" y="4410075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    let rule = Regex("[A-Z]{2}-[0-9]{3}")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DE88063-DE89-4C86-8DEE-2B1C009312DA}"/>
              </a:ext>
            </a:extLst>
          </p:cNvPr>
          <p:cNvSpPr>
            <a:spLocks noGrp="1"/>
          </p:cNvSpPr>
          <p:nvPr/>
        </p:nvSpPr>
        <p:spPr>
          <a:xfrm>
            <a:off x="5734050" y="468630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D665045-755C-49F4-BE5C-D3B579DFE2CB}"/>
              </a:ext>
            </a:extLst>
          </p:cNvPr>
          <p:cNvSpPr>
            <a:spLocks noGrp="1"/>
          </p:cNvSpPr>
          <p:nvPr/>
        </p:nvSpPr>
        <p:spPr>
          <a:xfrm>
            <a:off x="5734050" y="4962525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rPr>
              <a:t>    for (m in rule.findAll(text)) {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84AC68B-3C8D-4CD8-BD5C-1BB855FB81E9}"/>
              </a:ext>
            </a:extLst>
          </p:cNvPr>
          <p:cNvSpPr>
            <a:spLocks noGrp="1"/>
          </p:cNvSpPr>
          <p:nvPr/>
        </p:nvSpPr>
        <p:spPr>
          <a:xfrm>
            <a:off x="5734050" y="523875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FFD59B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FFD59B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FFD59B"/>
                </a:solidFill>
                <a:latin typeface="Arial Unicode MS"/>
                <a:ea typeface="Arial Unicode MS"/>
                <a:cs typeface="Arial Unicode MS"/>
              </a:rPr>
              <a:t>        println(m.text)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417769-A4F7-4E49-9F94-709016EDE497}"/>
              </a:ext>
            </a:extLst>
          </p:cNvPr>
          <p:cNvSpPr>
            <a:spLocks noGrp="1"/>
          </p:cNvSpPr>
          <p:nvPr/>
        </p:nvSpPr>
        <p:spPr>
          <a:xfrm>
            <a:off x="5734050" y="5514975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rPr>
              <a:t>    }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395AD36D-772E-4C90-9344-C6FE4F32AC31}"/>
              </a:ext>
            </a:extLst>
          </p:cNvPr>
          <p:cNvSpPr>
            <a:spLocks noGrp="1"/>
          </p:cNvSpPr>
          <p:nvPr/>
        </p:nvSpPr>
        <p:spPr>
          <a:xfrm>
            <a:off x="5734050" y="5791200"/>
            <a:ext cx="5676900" cy="3143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E9F0FA"/>
                </a:solidFill>
                <a:latin typeface="Arial Unicode MS"/>
                <a:ea typeface="Arial Unicode MS"/>
                <a:cs typeface="Arial Unicode M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239277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17C68E1B-8AD5-401B-A384-B8C181F09C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5E1C19A-4EAC-4A0D-8638-89C99F82522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9408D43-072E-4A7A-8A6D-EA34E852E6AC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03  /  REGEX4CJ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F2B7DDD-A170-4715-843C-77D30F14DA14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功能全景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EB1B3B7-B481-4934-8180-F601CF5B56E7}"/>
              </a:ext>
            </a:extLst>
          </p:cNvPr>
          <p:cNvSpPr>
            <a:spLocks noGrp="1"/>
          </p:cNvSpPr>
          <p:nvPr/>
        </p:nvSpPr>
        <p:spPr>
          <a:xfrm>
            <a:off x="581025" y="143827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常用文本处理直接调用，语法与引擎能力按需扩展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D9FE648-3CF3-4B99-AC80-41E173B875DC}"/>
              </a:ext>
            </a:extLst>
          </p:cNvPr>
          <p:cNvSpPr>
            <a:spLocks noGrp="1"/>
          </p:cNvSpPr>
          <p:nvPr/>
        </p:nvSpPr>
        <p:spPr>
          <a:xfrm>
            <a:off x="542925" y="2171700"/>
            <a:ext cx="1685925" cy="8763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1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51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1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3FA2D013-0865-4D94-A944-0FBAF6C93578}"/>
              </a:ext>
            </a:extLst>
          </p:cNvPr>
          <p:cNvSpPr>
            <a:spLocks noGrp="1"/>
          </p:cNvSpPr>
          <p:nvPr/>
        </p:nvSpPr>
        <p:spPr>
          <a:xfrm>
            <a:off x="542925" y="3105150"/>
            <a:ext cx="2714625" cy="4857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7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7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7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应用能力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A0E656F-386A-44BB-9123-3CD9F985B892}"/>
              </a:ext>
            </a:extLst>
          </p:cNvPr>
          <p:cNvSpPr>
            <a:spLocks noGrp="1"/>
          </p:cNvSpPr>
          <p:nvPr/>
        </p:nvSpPr>
        <p:spPr>
          <a:xfrm>
            <a:off x="552450" y="3781425"/>
            <a:ext cx="2952750" cy="800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Regex / BytesRegex</a:t>
            </a:r>
          </a:p>
          <a:p>
            <a:pPr>
              <a:def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RegexSet / BytesRegexSet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D5CB4EB-1EE0-4955-A814-E0D1763CFEF6}"/>
              </a:ext>
            </a:extLst>
          </p:cNvPr>
          <p:cNvSpPr>
            <a:spLocks noGrp="1"/>
          </p:cNvSpPr>
          <p:nvPr/>
        </p:nvSpPr>
        <p:spPr>
          <a:xfrm>
            <a:off x="3810000" y="21717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匹配与查找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1A639E9F-0121-4006-84D5-BBC47B27E0FE}"/>
              </a:ext>
            </a:extLst>
          </p:cNvPr>
          <p:cNvSpPr>
            <a:spLocks noGrp="1"/>
          </p:cNvSpPr>
          <p:nvPr/>
        </p:nvSpPr>
        <p:spPr>
          <a:xfrm>
            <a:off x="3810000" y="2628900"/>
            <a:ext cx="3571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匹配判断、单次查找、全部匹配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07825472-35CA-479D-A729-B1F2A83460B2}"/>
              </a:ext>
            </a:extLst>
          </p:cNvPr>
          <p:cNvSpPr>
            <a:spLocks noGrp="1"/>
          </p:cNvSpPr>
          <p:nvPr/>
        </p:nvSpPr>
        <p:spPr>
          <a:xfrm>
            <a:off x="7639050" y="217170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捕获与变换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D4438DC-9F90-486D-80A1-447200FED15C}"/>
              </a:ext>
            </a:extLst>
          </p:cNvPr>
          <p:cNvSpPr>
            <a:spLocks noGrp="1"/>
          </p:cNvSpPr>
          <p:nvPr/>
        </p:nvSpPr>
        <p:spPr>
          <a:xfrm>
            <a:off x="7639050" y="2628900"/>
            <a:ext cx="3571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分组提取、替换、脱敏、拆分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D374350-C015-44DC-915A-CA317ED25C0F}"/>
              </a:ext>
            </a:extLst>
          </p:cNvPr>
          <p:cNvSpPr>
            <a:spLocks noGrp="1"/>
          </p:cNvSpPr>
          <p:nvPr/>
        </p:nvSpPr>
        <p:spPr>
          <a:xfrm>
            <a:off x="3810000" y="333375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迭代与配置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2903C321-31C0-4D78-A086-A676040C1D03}"/>
              </a:ext>
            </a:extLst>
          </p:cNvPr>
          <p:cNvSpPr>
            <a:spLocks noGrp="1"/>
          </p:cNvSpPr>
          <p:nvPr/>
        </p:nvSpPr>
        <p:spPr>
          <a:xfrm>
            <a:off x="3810000" y="3790950"/>
            <a:ext cx="3571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惰性迭代、起点搜索、Builder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2B589ECD-5227-4DAF-8BA2-B2EC61BB0D83}"/>
              </a:ext>
            </a:extLst>
          </p:cNvPr>
          <p:cNvSpPr>
            <a:spLocks noGrp="1"/>
          </p:cNvSpPr>
          <p:nvPr/>
        </p:nvSpPr>
        <p:spPr>
          <a:xfrm>
            <a:off x="7639050" y="3333750"/>
            <a:ext cx="3571875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字符与规则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3A132DC-B5B7-4910-890A-A9B178BC6CE1}"/>
              </a:ext>
            </a:extLst>
          </p:cNvPr>
          <p:cNvSpPr>
            <a:spLocks noGrp="1"/>
          </p:cNvSpPr>
          <p:nvPr/>
        </p:nvSpPr>
        <p:spPr>
          <a:xfrm>
            <a:off x="7639050" y="3790950"/>
            <a:ext cx="3571875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Unicode 16、字符类、多行与大小写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54CFE89-016B-46D9-94C9-36EAE3F8E2B2}"/>
              </a:ext>
            </a:extLst>
          </p:cNvPr>
          <p:cNvSpPr>
            <a:spLocks noGrp="1"/>
          </p:cNvSpPr>
          <p:nvPr/>
        </p:nvSpPr>
        <p:spPr>
          <a:xfrm>
            <a:off x="552450" y="5229225"/>
            <a:ext cx="10001250" cy="438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25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02  语法与执行扩展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1F3D021-DEA1-4A65-A650-AA211168D372}"/>
              </a:ext>
            </a:extLst>
          </p:cNvPr>
          <p:cNvSpPr>
            <a:spLocks noGrp="1"/>
          </p:cNvSpPr>
          <p:nvPr/>
        </p:nvSpPr>
        <p:spPr>
          <a:xfrm>
            <a:off x="552450" y="5810250"/>
            <a:ext cx="10382250" cy="714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部分 AST/HIR · 字面量提取 · Thompson NFA · PikeVM · 有限回溯</a:t>
            </a:r>
          </a:p>
          <a:p>
            <a:pPr>
              <a:defRPr sz="172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Dense / Sparse / Hybrid DFA · 部分 Meta 接口</a:t>
            </a:r>
          </a:p>
        </p:txBody>
      </p:sp>
    </p:spTree>
    <p:extLst>
      <p:ext uri="{BB962C8B-B14F-4D97-AF65-F5344CB8AC3E}">
        <p14:creationId xmlns:p14="http://schemas.microsoft.com/office/powerpoint/2010/main" val="993139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1ADCD58D-DD42-4EA3-BD1B-CC41A8B1B1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C1408E-EC4C-4E8D-8B6B-36F3C49FBDA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A">
              <a:alpha val="48000"/>
            </a:srgbClr>
          </a:solidFill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513E39-F957-44C2-9A4C-7F8306130E0C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rPr>
              <a:t>04  /  REGEX4CJ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8BCAC6A-111F-40F4-A136-F95619128442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一条规则的执行过程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F4ACD23-D15C-480E-836A-08792C98A149}"/>
              </a:ext>
            </a:extLst>
          </p:cNvPr>
          <p:cNvSpPr>
            <a:spLocks noGrp="1"/>
          </p:cNvSpPr>
          <p:nvPr/>
        </p:nvSpPr>
        <p:spPr>
          <a:xfrm>
            <a:off x="581025" y="143827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rPr>
              <a:t>仓颉原生实现解析、编译与匹配，运行时不调用 Rust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2F22713-F68B-4CB3-A187-7CF16E63C731}"/>
              </a:ext>
            </a:extLst>
          </p:cNvPr>
          <p:cNvSpPr>
            <a:spLocks noGrp="1"/>
          </p:cNvSpPr>
          <p:nvPr/>
        </p:nvSpPr>
        <p:spPr>
          <a:xfrm>
            <a:off x="552450" y="23241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B8BDD9C-4680-4584-9E44-0BD4F75EF728}"/>
              </a:ext>
            </a:extLst>
          </p:cNvPr>
          <p:cNvSpPr>
            <a:spLocks noGrp="1"/>
          </p:cNvSpPr>
          <p:nvPr/>
        </p:nvSpPr>
        <p:spPr>
          <a:xfrm>
            <a:off x="552450" y="3429000"/>
            <a:ext cx="25431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解析规则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A67CD7B-AE2A-4CA3-9EBD-6D84BA494DED}"/>
              </a:ext>
            </a:extLst>
          </p:cNvPr>
          <p:cNvSpPr>
            <a:spLocks noGrp="1"/>
          </p:cNvSpPr>
          <p:nvPr/>
        </p:nvSpPr>
        <p:spPr>
          <a:xfrm>
            <a:off x="552450" y="4048125"/>
            <a:ext cx="24955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rPr>
              <a:t>字符、分组、重复关系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2AD3298-046D-4CD3-B046-EF6F9612F23C}"/>
              </a:ext>
            </a:extLst>
          </p:cNvPr>
          <p:cNvSpPr>
            <a:spLocks noGrp="1"/>
          </p:cNvSpPr>
          <p:nvPr/>
        </p:nvSpPr>
        <p:spPr>
          <a:xfrm>
            <a:off x="2676525" y="260032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304864A-45BF-42F5-BA25-D2511E6CD8AC}"/>
              </a:ext>
            </a:extLst>
          </p:cNvPr>
          <p:cNvSpPr>
            <a:spLocks noGrp="1"/>
          </p:cNvSpPr>
          <p:nvPr/>
        </p:nvSpPr>
        <p:spPr>
          <a:xfrm>
            <a:off x="3438525" y="23241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96D0E78-50C1-4EDF-A9B3-B04D88C864C3}"/>
              </a:ext>
            </a:extLst>
          </p:cNvPr>
          <p:cNvSpPr>
            <a:spLocks noGrp="1"/>
          </p:cNvSpPr>
          <p:nvPr/>
        </p:nvSpPr>
        <p:spPr>
          <a:xfrm>
            <a:off x="3438525" y="3429000"/>
            <a:ext cx="25431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编译结构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EF72956-DB37-407D-96C9-DDDE1B7266FC}"/>
              </a:ext>
            </a:extLst>
          </p:cNvPr>
          <p:cNvSpPr>
            <a:spLocks noGrp="1"/>
          </p:cNvSpPr>
          <p:nvPr/>
        </p:nvSpPr>
        <p:spPr>
          <a:xfrm>
            <a:off x="3438525" y="4048125"/>
            <a:ext cx="24955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rPr>
              <a:t>转换为匹配指令与状态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8EB92FF9-F13D-4549-B09F-8B752AEB7F95}"/>
              </a:ext>
            </a:extLst>
          </p:cNvPr>
          <p:cNvSpPr>
            <a:spLocks noGrp="1"/>
          </p:cNvSpPr>
          <p:nvPr/>
        </p:nvSpPr>
        <p:spPr>
          <a:xfrm>
            <a:off x="5562600" y="260032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11338DE-98E9-4587-8483-8F2F50CD468E}"/>
              </a:ext>
            </a:extLst>
          </p:cNvPr>
          <p:cNvSpPr>
            <a:spLocks noGrp="1"/>
          </p:cNvSpPr>
          <p:nvPr/>
        </p:nvSpPr>
        <p:spPr>
          <a:xfrm>
            <a:off x="6324600" y="23241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84B93FC-01F8-471B-A912-C1D109D4B2CD}"/>
              </a:ext>
            </a:extLst>
          </p:cNvPr>
          <p:cNvSpPr>
            <a:spLocks noGrp="1"/>
          </p:cNvSpPr>
          <p:nvPr/>
        </p:nvSpPr>
        <p:spPr>
          <a:xfrm>
            <a:off x="6324600" y="3429000"/>
            <a:ext cx="25431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扫描文本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26E03C3-1083-4769-86B3-C59FA4B56965}"/>
              </a:ext>
            </a:extLst>
          </p:cNvPr>
          <p:cNvSpPr>
            <a:spLocks noGrp="1"/>
          </p:cNvSpPr>
          <p:nvPr/>
        </p:nvSpPr>
        <p:spPr>
          <a:xfrm>
            <a:off x="6324600" y="4048125"/>
            <a:ext cx="24955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rPr>
              <a:t>查找命中并记录分组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ED442DF-0103-4A3B-8F71-A6150D43D6BC}"/>
              </a:ext>
            </a:extLst>
          </p:cNvPr>
          <p:cNvSpPr>
            <a:spLocks noGrp="1"/>
          </p:cNvSpPr>
          <p:nvPr/>
        </p:nvSpPr>
        <p:spPr>
          <a:xfrm>
            <a:off x="8448675" y="2600325"/>
            <a:ext cx="66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625" b="0">
                <a:solidFill>
                  <a:srgbClr val="6F94BC"/>
                </a:solidFill>
                <a:latin typeface="Arial Unicode MS"/>
                <a:ea typeface="Arial Unicode MS"/>
                <a:cs typeface="Arial Unicode MS"/>
              </a:rPr>
              <a:t>→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F1B4B99-294E-4E13-811D-F5AB4276A8F2}"/>
              </a:ext>
            </a:extLst>
          </p:cNvPr>
          <p:cNvSpPr>
            <a:spLocks noGrp="1"/>
          </p:cNvSpPr>
          <p:nvPr/>
        </p:nvSpPr>
        <p:spPr>
          <a:xfrm>
            <a:off x="9210675" y="2324100"/>
            <a:ext cx="2333625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555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3ECE54F5-D30F-408C-BFB5-F642D0477F73}"/>
              </a:ext>
            </a:extLst>
          </p:cNvPr>
          <p:cNvSpPr>
            <a:spLocks noGrp="1"/>
          </p:cNvSpPr>
          <p:nvPr/>
        </p:nvSpPr>
        <p:spPr>
          <a:xfrm>
            <a:off x="9210675" y="3429000"/>
            <a:ext cx="2543175" cy="4667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返回结果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990A131D-5D56-4A0B-AB94-A50EA7635AD3}"/>
              </a:ext>
            </a:extLst>
          </p:cNvPr>
          <p:cNvSpPr>
            <a:spLocks noGrp="1"/>
          </p:cNvSpPr>
          <p:nvPr/>
        </p:nvSpPr>
        <p:spPr>
          <a:xfrm>
            <a:off x="9210675" y="4048125"/>
            <a:ext cx="2495550" cy="7810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5C8DF"/>
                </a:solidFill>
                <a:latin typeface="Arial Unicode MS"/>
                <a:ea typeface="Arial Unicode MS"/>
                <a:cs typeface="Arial Unicode MS"/>
              </a:rPr>
              <a:t>内容、位置与变换结果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7F7AC71-B133-4356-93FF-3E5A4D8A4884}"/>
              </a:ext>
            </a:extLst>
          </p:cNvPr>
          <p:cNvSpPr>
            <a:spLocks noGrp="1"/>
          </p:cNvSpPr>
          <p:nvPr/>
        </p:nvSpPr>
        <p:spPr>
          <a:xfrm>
            <a:off x="552450" y="5191125"/>
            <a:ext cx="10858500" cy="533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AI 辅助分析与实现     /     以编译和结果对照修正行为</a:t>
            </a:r>
          </a:p>
        </p:txBody>
      </p:sp>
    </p:spTree>
    <p:extLst>
      <p:ext uri="{BB962C8B-B14F-4D97-AF65-F5344CB8AC3E}">
        <p14:creationId xmlns:p14="http://schemas.microsoft.com/office/powerpoint/2010/main" val="736420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>
            <a:extLst>
              <a:ext uri="{FF2B5EF4-FFF2-40B4-BE49-F238E27FC236}">
                <a16:creationId xmlns:a16="http://schemas.microsoft.com/office/drawing/2014/main" id="{6881BD82-4D31-4BC2-8FC0-AEE5E13AE7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b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矩形 2">
            <a:extLst>
              <a:ext uri="{FF2B5EF4-FFF2-40B4-BE49-F238E27FC236}">
                <a16:creationId xmlns:a16="http://schemas.microsoft.com/office/drawing/2014/main" id="{77ADAF7A-E687-477A-A493-2836E606678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72000"/>
            </a:srgbClr>
          </a:solidFill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5CCF643-EB49-44F5-80F7-2DF297CEC0FA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05  /  REGEX4CJ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FE51BC-3DF9-4505-889F-EBE284723855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测试组织：功能、特性与案例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CF0458C1-D67B-435F-9D82-EB894A3B1E9C}"/>
              </a:ext>
            </a:extLst>
          </p:cNvPr>
          <p:cNvSpPr>
            <a:spLocks noGrp="1"/>
          </p:cNvSpPr>
          <p:nvPr/>
        </p:nvSpPr>
        <p:spPr>
          <a:xfrm>
            <a:off x="523875" y="2066925"/>
            <a:ext cx="2857500" cy="1276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780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780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7800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15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118893B-4398-43D8-B4E7-498FBBF03E14}"/>
              </a:ext>
            </a:extLst>
          </p:cNvPr>
          <p:cNvSpPr>
            <a:spLocks noGrp="1"/>
          </p:cNvSpPr>
          <p:nvPr/>
        </p:nvSpPr>
        <p:spPr>
          <a:xfrm>
            <a:off x="590550" y="3352800"/>
            <a:ext cx="3238500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25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个功能组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6C9C224-671D-4B98-AA5A-27F494544DDF}"/>
              </a:ext>
            </a:extLst>
          </p:cNvPr>
          <p:cNvSpPr>
            <a:spLocks noGrp="1"/>
          </p:cNvSpPr>
          <p:nvPr/>
        </p:nvSpPr>
        <p:spPr>
          <a:xfrm>
            <a:off x="590550" y="3981450"/>
            <a:ext cx="3505200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查找、捕获、替换、分割</a:t>
            </a:r>
          </a:p>
          <a:p>
            <a:pPr>
              <a:def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65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多规则、Unicode、语法与引擎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063E305-7EFF-4ED1-8641-41415D5539ED}"/>
              </a:ext>
            </a:extLst>
          </p:cNvPr>
          <p:cNvSpPr>
            <a:spLocks noGrp="1"/>
          </p:cNvSpPr>
          <p:nvPr/>
        </p:nvSpPr>
        <p:spPr>
          <a:xfrm>
            <a:off x="590550" y="4867275"/>
            <a:ext cx="3429000" cy="619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正常输入、边界情况、异常行为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8E89635-0F85-48F0-B6A1-C0762336202D}"/>
              </a:ext>
            </a:extLst>
          </p:cNvPr>
          <p:cNvSpPr>
            <a:spLocks noGrp="1"/>
          </p:cNvSpPr>
          <p:nvPr/>
        </p:nvSpPr>
        <p:spPr>
          <a:xfrm>
            <a:off x="4524375" y="2105025"/>
            <a:ext cx="68580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7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功能示例：查找首个匹配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E0D10FE-570A-488B-89DB-3DA7B9955F42}"/>
              </a:ext>
            </a:extLst>
          </p:cNvPr>
          <p:cNvSpPr>
            <a:spLocks noGrp="1"/>
          </p:cNvSpPr>
          <p:nvPr/>
        </p:nvSpPr>
        <p:spPr>
          <a:xfrm>
            <a:off x="4552950" y="2562225"/>
            <a:ext cx="6858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规则 [0-9]+  用于识别连续数字</a:t>
            </a:r>
          </a:p>
        </p:txBody>
      </p:sp>
      <p:graphicFrame>
        <p:nvGraphicFramePr>
          <p:cNvPr id="13" name="表格 12">
            <a:extLst>
              <a:ext uri="{FF2B5EF4-FFF2-40B4-BE49-F238E27FC236}">
                <a16:creationId xmlns:a16="http://schemas.microsoft.com/office/drawing/2014/main" id="{5CBE5097-611C-48C2-9290-2A92F1CA4019}"/>
              </a:ext>
            </a:extLst>
          </p:cNvPr>
          <p:cNvGraphicFramePr/>
          <p:nvPr/>
        </p:nvGraphicFramePr>
        <p:xfrm>
          <a:off x="4524375" y="3038475"/>
          <a:ext cx="6924675" cy="2238375"/>
        </p:xfrm>
        <a:graphic>
          <a:graphicData uri="http://schemas.openxmlformats.org/drawingml/2006/table">
            <a:tbl>
              <a:tblPr/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76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特性</a:t>
                      </a:r>
                    </a:p>
                  </a:txBody>
                  <a:tcPr>
                    <a:solidFill>
                      <a:srgbClr val="E4E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输入文本</a:t>
                      </a:r>
                    </a:p>
                  </a:txBody>
                  <a:tcPr>
                    <a:solidFill>
                      <a:srgbClr val="E4ED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预期结果</a:t>
                      </a:r>
                    </a:p>
                  </a:txBody>
                  <a:tcPr>
                    <a:solidFill>
                      <a:srgbClr val="E4ED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普通输入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订单123已完成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5CE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多个结果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12和34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5CE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12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没有匹配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没有数字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5CE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无匹配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67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空文本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0233D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空字符串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05CE0"/>
                          </a:solidFill>
                          <a:latin typeface="Arial Unicode MS"/>
                          <a:ea typeface="Arial Unicode MS"/>
                          <a:cs typeface="Arial Unicode MS"/>
                        </a:rPr>
                        <a:t>无匹配</a:t>
                      </a:r>
                    </a:p>
                  </a:txBody>
                  <a:tcPr>
                    <a:solidFill>
                      <a:srgbClr val="F2F6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" name="矩形 13">
            <a:extLst>
              <a:ext uri="{FF2B5EF4-FFF2-40B4-BE49-F238E27FC236}">
                <a16:creationId xmlns:a16="http://schemas.microsoft.com/office/drawing/2014/main" id="{7970C3A6-9820-4C76-A56B-ED72F7BB47B9}"/>
              </a:ext>
            </a:extLst>
          </p:cNvPr>
          <p:cNvSpPr>
            <a:spLocks noGrp="1"/>
          </p:cNvSpPr>
          <p:nvPr/>
        </p:nvSpPr>
        <p:spPr>
          <a:xfrm>
            <a:off x="590550" y="57340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025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独立预期与 Rust 原仓库双重核对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1CE60A2F-45B7-48EE-BB46-2A242B12F18C}"/>
              </a:ext>
            </a:extLst>
          </p:cNvPr>
          <p:cNvSpPr>
            <a:spLocks noGrp="1"/>
          </p:cNvSpPr>
          <p:nvPr/>
        </p:nvSpPr>
        <p:spPr>
          <a:xfrm>
            <a:off x="590550" y="6191250"/>
            <a:ext cx="1057275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44 个具名案例      61 项仓颉测试      47 个批量回归套件</a:t>
            </a:r>
          </a:p>
        </p:txBody>
      </p:sp>
    </p:spTree>
    <p:extLst>
      <p:ext uri="{BB962C8B-B14F-4D97-AF65-F5344CB8AC3E}">
        <p14:creationId xmlns:p14="http://schemas.microsoft.com/office/powerpoint/2010/main" val="1772129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图片 18">
            <a:extLst>
              <a:ext uri="{FF2B5EF4-FFF2-40B4-BE49-F238E27FC236}">
                <a16:creationId xmlns:a16="http://schemas.microsoft.com/office/drawing/2014/main" id="{227DC57F-6C1C-4B77-A70C-3858A81942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0000" r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524DC1A3-0DE1-46DC-9C00-AD07068020C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7152A">
              <a:alpha val="48000"/>
            </a:srgbClr>
          </a:solidFill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72957FF-1A55-488B-9474-A7F6874F29DD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rPr>
              <a:t>06  /  REGEX4CJ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60336A04-0864-4701-B832-8CB2AC102BF8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视频演示流程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7EF722E-E686-446B-8CA4-78E156FD1C8F}"/>
              </a:ext>
            </a:extLst>
          </p:cNvPr>
          <p:cNvSpPr>
            <a:spLocks noGrp="1"/>
          </p:cNvSpPr>
          <p:nvPr/>
        </p:nvSpPr>
        <p:spPr>
          <a:xfrm>
            <a:off x="581025" y="1438275"/>
            <a:ext cx="104775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2C5DA"/>
                </a:solidFill>
                <a:latin typeface="Arial Unicode MS"/>
                <a:ea typeface="Arial Unicode MS"/>
                <a:cs typeface="Arial Unicode MS"/>
              </a:rPr>
              <a:t>从一次调用，到功能展示，再到自动化验证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EA6012F-A4EE-43DD-AC26-13E677497041}"/>
              </a:ext>
            </a:extLst>
          </p:cNvPr>
          <p:cNvSpPr>
            <a:spLocks noGrp="1"/>
          </p:cNvSpPr>
          <p:nvPr/>
        </p:nvSpPr>
        <p:spPr>
          <a:xfrm>
            <a:off x="561975" y="2266950"/>
            <a:ext cx="128587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01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B1BA88C-2884-417A-9356-5EEC4286FCE3}"/>
              </a:ext>
            </a:extLst>
          </p:cNvPr>
          <p:cNvSpPr>
            <a:spLocks noGrp="1"/>
          </p:cNvSpPr>
          <p:nvPr/>
        </p:nvSpPr>
        <p:spPr>
          <a:xfrm>
            <a:off x="2028825" y="2305050"/>
            <a:ext cx="39909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接入与调用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95A6AA9-2546-4B9B-8C96-E2B1180F2C21}"/>
              </a:ext>
            </a:extLst>
          </p:cNvPr>
          <p:cNvSpPr>
            <a:spLocks noGrp="1"/>
          </p:cNvSpPr>
          <p:nvPr/>
        </p:nvSpPr>
        <p:spPr>
          <a:xfrm>
            <a:off x="2028825" y="2914650"/>
            <a:ext cx="39909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展示仓颉程序</a:t>
            </a:r>
          </a:p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输入规则并获取结果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75A7D413-F414-4962-A656-7C890462D892}"/>
              </a:ext>
            </a:extLst>
          </p:cNvPr>
          <p:cNvSpPr>
            <a:spLocks noGrp="1"/>
          </p:cNvSpPr>
          <p:nvPr/>
        </p:nvSpPr>
        <p:spPr>
          <a:xfrm>
            <a:off x="6448425" y="2266950"/>
            <a:ext cx="128587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02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942A861-D1D3-4792-A150-4A81C8D82F54}"/>
              </a:ext>
            </a:extLst>
          </p:cNvPr>
          <p:cNvSpPr>
            <a:spLocks noGrp="1"/>
          </p:cNvSpPr>
          <p:nvPr/>
        </p:nvSpPr>
        <p:spPr>
          <a:xfrm>
            <a:off x="7915275" y="2305050"/>
            <a:ext cx="39909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常用文本处理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8A4808C-DF1E-41C1-A1D7-9AFC49E58FBF}"/>
              </a:ext>
            </a:extLst>
          </p:cNvPr>
          <p:cNvSpPr>
            <a:spLocks noGrp="1"/>
          </p:cNvSpPr>
          <p:nvPr/>
        </p:nvSpPr>
        <p:spPr>
          <a:xfrm>
            <a:off x="7915275" y="2914650"/>
            <a:ext cx="39909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订单提取与格式校验</a:t>
            </a:r>
          </a:p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分组捕获、替换与拆分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4003FBC-F7E0-448A-8111-C282A5EA1269}"/>
              </a:ext>
            </a:extLst>
          </p:cNvPr>
          <p:cNvSpPr>
            <a:spLocks noGrp="1"/>
          </p:cNvSpPr>
          <p:nvPr/>
        </p:nvSpPr>
        <p:spPr>
          <a:xfrm>
            <a:off x="561975" y="4067175"/>
            <a:ext cx="128587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03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CB77562-60B0-4673-974B-BD59C8E2C4DD}"/>
              </a:ext>
            </a:extLst>
          </p:cNvPr>
          <p:cNvSpPr>
            <a:spLocks noGrp="1"/>
          </p:cNvSpPr>
          <p:nvPr/>
        </p:nvSpPr>
        <p:spPr>
          <a:xfrm>
            <a:off x="2028825" y="4105275"/>
            <a:ext cx="39909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扩展能力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A101E2C-3522-4382-ABD4-904DB36600A6}"/>
              </a:ext>
            </a:extLst>
          </p:cNvPr>
          <p:cNvSpPr>
            <a:spLocks noGrp="1"/>
          </p:cNvSpPr>
          <p:nvPr/>
        </p:nvSpPr>
        <p:spPr>
          <a:xfrm>
            <a:off x="2028825" y="4714875"/>
            <a:ext cx="39909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多规则分类、字节处理</a:t>
            </a:r>
          </a:p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语法与引擎接口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6B1F8C5-3C78-43B2-B4E0-30893DE75CCF}"/>
              </a:ext>
            </a:extLst>
          </p:cNvPr>
          <p:cNvSpPr>
            <a:spLocks noGrp="1"/>
          </p:cNvSpPr>
          <p:nvPr/>
        </p:nvSpPr>
        <p:spPr>
          <a:xfrm>
            <a:off x="6448425" y="4067175"/>
            <a:ext cx="1285875" cy="990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4800" b="0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04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13E36D7-283C-4077-9622-1BF6BFEC4BE2}"/>
              </a:ext>
            </a:extLst>
          </p:cNvPr>
          <p:cNvSpPr>
            <a:spLocks noGrp="1"/>
          </p:cNvSpPr>
          <p:nvPr/>
        </p:nvSpPr>
        <p:spPr>
          <a:xfrm>
            <a:off x="7915275" y="4105275"/>
            <a:ext cx="39909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75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结果验证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ACAE13C-5647-437A-8A49-392956DABD4E}"/>
              </a:ext>
            </a:extLst>
          </p:cNvPr>
          <p:cNvSpPr>
            <a:spLocks noGrp="1"/>
          </p:cNvSpPr>
          <p:nvPr/>
        </p:nvSpPr>
        <p:spPr>
          <a:xfrm>
            <a:off x="7915275" y="4714875"/>
            <a:ext cx="3990975" cy="8953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运行对照检查</a:t>
            </a:r>
          </a:p>
          <a:p>
            <a:pPr>
              <a:def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725" b="0">
                <a:solidFill>
                  <a:srgbClr val="BCCDE0"/>
                </a:solidFill>
                <a:latin typeface="Arial Unicode MS"/>
                <a:ea typeface="Arial Unicode MS"/>
                <a:cs typeface="Arial Unicode MS"/>
              </a:rPr>
              <a:t>查看通过项与记录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2F21470-F42C-43F6-8824-054CCFB7BFCC}"/>
              </a:ext>
            </a:extLst>
          </p:cNvPr>
          <p:cNvSpPr>
            <a:spLocks noGrp="1"/>
          </p:cNvSpPr>
          <p:nvPr/>
        </p:nvSpPr>
        <p:spPr>
          <a:xfrm>
            <a:off x="561975" y="6124575"/>
            <a:ext cx="106680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调用代码  →  观察输出  →  核对结果</a:t>
            </a:r>
          </a:p>
        </p:txBody>
      </p:sp>
    </p:spTree>
    <p:extLst>
      <p:ext uri="{BB962C8B-B14F-4D97-AF65-F5344CB8AC3E}">
        <p14:creationId xmlns:p14="http://schemas.microsoft.com/office/powerpoint/2010/main" val="849946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:a16="http://schemas.microsoft.com/office/drawing/2014/main" id="{2BAE3485-2D1B-4064-8D11-7B82D9E267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50000" b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D5E1357A-01A6-4520-8F46-8512FE5F25EE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07  /  REGEX4CJ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33918A1-E210-4881-9098-502A19BA89F3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交付的是可直接接入的仓颉库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6EEFD7E-AB45-4CCD-BE80-483DC4DB87EE}"/>
              </a:ext>
            </a:extLst>
          </p:cNvPr>
          <p:cNvSpPr>
            <a:spLocks noGrp="1"/>
          </p:cNvSpPr>
          <p:nvPr/>
        </p:nvSpPr>
        <p:spPr>
          <a:xfrm>
            <a:off x="571500" y="200025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接入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959A5EA-BE69-4825-ABD1-0593D58123D3}"/>
              </a:ext>
            </a:extLst>
          </p:cNvPr>
          <p:cNvSpPr>
            <a:spLocks noGrp="1"/>
          </p:cNvSpPr>
          <p:nvPr/>
        </p:nvSpPr>
        <p:spPr>
          <a:xfrm>
            <a:off x="3095625" y="2124075"/>
            <a:ext cx="828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添加 regex4cj 依赖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D42CBD8-667D-42D4-B321-F876E1EE8466}"/>
              </a:ext>
            </a:extLst>
          </p:cNvPr>
          <p:cNvSpPr>
            <a:spLocks noGrp="1"/>
          </p:cNvSpPr>
          <p:nvPr/>
        </p:nvSpPr>
        <p:spPr>
          <a:xfrm>
            <a:off x="3095625" y="2705100"/>
            <a:ext cx="8096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调用 Regex 等接口处理业务文本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28F5CF5-D2A8-46CF-BF09-008A1BA5A8AA}"/>
              </a:ext>
            </a:extLst>
          </p:cNvPr>
          <p:cNvSpPr>
            <a:spLocks noGrp="1"/>
          </p:cNvSpPr>
          <p:nvPr/>
        </p:nvSpPr>
        <p:spPr>
          <a:xfrm>
            <a:off x="571500" y="3457575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使用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80418B-6C8F-4CBC-B479-D19BFE21C586}"/>
              </a:ext>
            </a:extLst>
          </p:cNvPr>
          <p:cNvSpPr>
            <a:spLocks noGrp="1"/>
          </p:cNvSpPr>
          <p:nvPr/>
        </p:nvSpPr>
        <p:spPr>
          <a:xfrm>
            <a:off x="3095625" y="3562350"/>
            <a:ext cx="8286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4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40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源码 + 调用示例 + 接口文档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37C4F01-2E6C-425F-896A-8F6251189DF6}"/>
              </a:ext>
            </a:extLst>
          </p:cNvPr>
          <p:cNvSpPr>
            <a:spLocks noGrp="1"/>
          </p:cNvSpPr>
          <p:nvPr/>
        </p:nvSpPr>
        <p:spPr>
          <a:xfrm>
            <a:off x="3095625" y="4143375"/>
            <a:ext cx="8096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75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从示例开始，按实际场景编写规则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B9A506AB-D002-446A-B7CA-DF0A67F530BD}"/>
              </a:ext>
            </a:extLst>
          </p:cNvPr>
          <p:cNvSpPr>
            <a:spLocks noGrp="1"/>
          </p:cNvSpPr>
          <p:nvPr/>
        </p:nvSpPr>
        <p:spPr>
          <a:xfrm>
            <a:off x="571500" y="4914900"/>
            <a:ext cx="2286000" cy="66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675" b="1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验证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C3C386FA-2A41-4716-A6BA-C902C82CA8E4}"/>
              </a:ext>
            </a:extLst>
          </p:cNvPr>
          <p:cNvSpPr>
            <a:spLocks noGrp="1"/>
          </p:cNvSpPr>
          <p:nvPr/>
        </p:nvSpPr>
        <p:spPr>
          <a:xfrm>
            <a:off x="3095625" y="5019675"/>
            <a:ext cx="80962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25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25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250" b="1">
                <a:solidFill>
                  <a:srgbClr val="10233D"/>
                </a:solidFill>
                <a:latin typeface="Arial Unicode MS"/>
                <a:ea typeface="Arial Unicode MS"/>
                <a:cs typeface="Arial Unicode MS"/>
              </a:rPr>
              <a:t>测试数据 + 验证脚本 + 结果记录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827EE21-FE91-4DB6-A3F5-F437C3C0F3EC}"/>
              </a:ext>
            </a:extLst>
          </p:cNvPr>
          <p:cNvSpPr>
            <a:spLocks noGrp="1"/>
          </p:cNvSpPr>
          <p:nvPr/>
        </p:nvSpPr>
        <p:spPr>
          <a:xfrm>
            <a:off x="3095625" y="5600700"/>
            <a:ext cx="8096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0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5B6C83"/>
                </a:solidFill>
                <a:latin typeface="Arial Unicode MS"/>
                <a:ea typeface="Arial Unicode MS"/>
                <a:cs typeface="Arial Unicode MS"/>
              </a:rPr>
              <a:t>公开实现范围，保留原仓库来源与开源许可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A434F1-6E4D-4E03-9DDD-C50BCEEAD23C}"/>
              </a:ext>
            </a:extLst>
          </p:cNvPr>
          <p:cNvSpPr>
            <a:spLocks noGrp="1"/>
          </p:cNvSpPr>
          <p:nvPr/>
        </p:nvSpPr>
        <p:spPr>
          <a:xfrm>
            <a:off x="571500" y="637222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75" b="0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75" b="0">
                <a:solidFill>
                  <a:srgbClr val="205CE0"/>
                </a:solidFill>
                <a:latin typeface="Arial Unicode MS"/>
                <a:ea typeface="Arial Unicode MS"/>
                <a:cs typeface="Arial Unicode MS"/>
              </a:rPr>
              <a:t>已验证环境：STS 仓颉 1.1.3 / Apple Silicon macOS</a:t>
            </a:r>
          </a:p>
        </p:txBody>
      </p:sp>
    </p:spTree>
    <p:extLst>
      <p:ext uri="{BB962C8B-B14F-4D97-AF65-F5344CB8AC3E}">
        <p14:creationId xmlns:p14="http://schemas.microsoft.com/office/powerpoint/2010/main" val="1083555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:a16="http://schemas.microsoft.com/office/drawing/2014/main" id="{BA1E33F2-DE7C-4B79-87F7-08C52D146A9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0000" t="50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9008780-F61F-4E86-B369-B0419115689D}"/>
              </a:ext>
            </a:extLst>
          </p:cNvPr>
          <p:cNvSpPr>
            <a:spLocks noGrp="1"/>
          </p:cNvSpPr>
          <p:nvPr/>
        </p:nvSpPr>
        <p:spPr>
          <a:xfrm>
            <a:off x="552450" y="3143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125" b="0">
                <a:solidFill>
                  <a:srgbClr val="93ACC8"/>
                </a:solidFill>
                <a:latin typeface="Arial Unicode MS"/>
                <a:ea typeface="Arial Unicode MS"/>
                <a:cs typeface="Arial Unicode MS"/>
              </a:rPr>
              <a:t>08  /  REGEX4CJ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922C9A-4B83-4BDC-89CA-2490077DFFEC}"/>
              </a:ext>
            </a:extLst>
          </p:cNvPr>
          <p:cNvSpPr>
            <a:spLocks noGrp="1"/>
          </p:cNvSpPr>
          <p:nvPr/>
        </p:nvSpPr>
        <p:spPr>
          <a:xfrm>
            <a:off x="552450" y="752475"/>
            <a:ext cx="10953750" cy="657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3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当前成果与后续方向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5F54247-EDA6-4C08-ADDE-9D168ACBF507}"/>
              </a:ext>
            </a:extLst>
          </p:cNvPr>
          <p:cNvSpPr>
            <a:spLocks noGrp="1"/>
          </p:cNvSpPr>
          <p:nvPr/>
        </p:nvSpPr>
        <p:spPr>
          <a:xfrm>
            <a:off x="561975" y="2009775"/>
            <a:ext cx="9810750" cy="15144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让文本处理能力</a:t>
            </a:r>
          </a:p>
          <a:p>
            <a:pPr>
              <a:def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3900" b="1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在仓颉中可用、可验证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1F71B70-B98E-4D6A-951F-C8DA1D626ECA}"/>
              </a:ext>
            </a:extLst>
          </p:cNvPr>
          <p:cNvSpPr>
            <a:spLocks noGrp="1"/>
          </p:cNvSpPr>
          <p:nvPr/>
        </p:nvSpPr>
        <p:spPr>
          <a:xfrm>
            <a:off x="581025" y="4010025"/>
            <a:ext cx="385762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0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已交付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0A15ADE-9DC1-4E78-82EA-283FAC2773E1}"/>
              </a:ext>
            </a:extLst>
          </p:cNvPr>
          <p:cNvSpPr>
            <a:spLocks noGrp="1"/>
          </p:cNvSpPr>
          <p:nvPr/>
        </p:nvSpPr>
        <p:spPr>
          <a:xfrm>
            <a:off x="581025" y="4572000"/>
            <a:ext cx="5781675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常用正则处理与多规则匹配</a:t>
            </a:r>
          </a:p>
          <a:p>
            <a: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部分语法、自动机与引擎接口</a:t>
            </a:r>
          </a:p>
          <a:p>
            <a: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源码、示例和验证材料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E768A4D-E081-407B-9811-CC6C9761170C}"/>
              </a:ext>
            </a:extLst>
          </p:cNvPr>
          <p:cNvSpPr>
            <a:spLocks noGrp="1"/>
          </p:cNvSpPr>
          <p:nvPr/>
        </p:nvSpPr>
        <p:spPr>
          <a:xfrm>
            <a:off x="6524625" y="4010025"/>
            <a:ext cx="4286250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0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210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2100" b="1">
                <a:solidFill>
                  <a:srgbClr val="B3F1ED"/>
                </a:solidFill>
                <a:latin typeface="Arial Unicode MS"/>
                <a:ea typeface="Arial Unicode MS"/>
                <a:cs typeface="Arial Unicode MS"/>
              </a:rPr>
              <a:t>继续完善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A1D98D-C277-4AA7-8ED1-A8C0A2307988}"/>
              </a:ext>
            </a:extLst>
          </p:cNvPr>
          <p:cNvSpPr>
            <a:spLocks noGrp="1"/>
          </p:cNvSpPr>
          <p:nvPr/>
        </p:nvSpPr>
        <p:spPr>
          <a:xfrm>
            <a:off x="6524625" y="4572000"/>
            <a:ext cx="4476750" cy="12001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补齐原仓库行为</a:t>
            </a:r>
          </a:p>
          <a:p>
            <a: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增加跨平台验证</a:t>
            </a:r>
          </a:p>
          <a:p>
            <a:pPr>
              <a:def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800" b="0">
                <a:solidFill>
                  <a:srgbClr val="FFFFFF"/>
                </a:solidFill>
                <a:latin typeface="Arial Unicode MS"/>
                <a:ea typeface="Arial Unicode MS"/>
                <a:cs typeface="Arial Unicode MS"/>
              </a:rPr>
              <a:t>建立性能基准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8BAE766-B6CF-4BC9-A753-C80DBDBCC6D0}"/>
              </a:ext>
            </a:extLst>
          </p:cNvPr>
          <p:cNvSpPr>
            <a:spLocks noGrp="1"/>
          </p:cNvSpPr>
          <p:nvPr/>
        </p:nvSpPr>
        <p:spPr>
          <a:xfrm>
            <a:off x="581025" y="6257925"/>
            <a:ext cx="101917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00" b="0">
                <a:solidFill>
                  <a:srgbClr val="ACBDD3"/>
                </a:solidFill>
                <a:latin typeface="Arial Unicode MS"/>
                <a:ea typeface="Arial Unicode MS"/>
                <a:cs typeface="Arial Unicode MS"/>
              </a:defRPr>
            </a:defPPr>
          </a:lstStyle>
          <a:p>
            <a:pPr>
              <a:defRPr sz="1500" b="0">
                <a:solidFill>
                  <a:srgbClr val="ACBDD3"/>
                </a:solidFill>
                <a:latin typeface="Arial Unicode MS"/>
                <a:ea typeface="Arial Unicode MS"/>
                <a:cs typeface="Arial Unicode MS"/>
              </a:defRPr>
            </a:pPr>
            <a:r>
              <a:rPr sz="1500" b="0">
                <a:solidFill>
                  <a:srgbClr val="ACBDD3"/>
                </a:solidFill>
                <a:latin typeface="Arial Unicode MS"/>
                <a:ea typeface="Arial Unicode MS"/>
                <a:cs typeface="Arial Unicode MS"/>
              </a:rPr>
              <a:t>当前版本尚非原仓库全部功能的等价替代</a:t>
            </a:r>
          </a:p>
        </p:txBody>
      </p:sp>
    </p:spTree>
    <p:extLst>
      <p:ext uri="{BB962C8B-B14F-4D97-AF65-F5344CB8AC3E}">
        <p14:creationId xmlns:p14="http://schemas.microsoft.com/office/powerpoint/2010/main" val="115176931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88</TotalTime>
  <Words>384</Words>
  <Application>Microsoft Macintosh PowerPoint</Application>
  <DocSecurity>0</DocSecurity>
  <PresentationFormat>宽屏</PresentationFormat>
  <Paragraphs>137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 Unicode MS</vt:lpstr>
      <vt:lpstr>Aptos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T178138</cp:lastModifiedBy>
  <cp:revision>2</cp:revision>
  <dcterms:created xsi:type="dcterms:W3CDTF">2026-10-06T10:51:35Z</dcterms:created>
  <dcterms:modified xsi:type="dcterms:W3CDTF">2026-10-07T10:17:50Z</dcterms:modified>
</cp:coreProperties>
</file>