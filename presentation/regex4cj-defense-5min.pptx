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ea1c684ac543f6" /><Relationship Type="http://schemas.openxmlformats.org/officeDocument/2006/relationships/extended-properties" Target="/docProps/app.xml" Id="Rb52631b58cd641b6" /><Relationship Type="http://schemas.openxmlformats.org/officeDocument/2006/relationships/officeDocument" Target="/ppt/presentation.xml" Id="R4122da2a17b64b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135214903840fe"/>
  </p:sldMasterIdLst>
  <p:notesMasterIdLst>
    <p:notesMasterId xmlns:r="http://schemas.openxmlformats.org/officeDocument/2006/relationships" r:id="R1646f2d43c2f4fa7"/>
  </p:notesMasterIdLst>
  <p:sldIdLst>
    <p:sldId xmlns:r="http://schemas.openxmlformats.org/officeDocument/2006/relationships" id="256" r:id="R7be643b408c54815"/>
    <p:sldId xmlns:r="http://schemas.openxmlformats.org/officeDocument/2006/relationships" id="257" r:id="Rcfdd980756af49bd"/>
    <p:sldId xmlns:r="http://schemas.openxmlformats.org/officeDocument/2006/relationships" id="258" r:id="Ra8a651123f5f455b"/>
    <p:sldId xmlns:r="http://schemas.openxmlformats.org/officeDocument/2006/relationships" id="259" r:id="R14d33cc268884009"/>
    <p:sldId xmlns:r="http://schemas.openxmlformats.org/officeDocument/2006/relationships" id="260" r:id="R2cd0f979625c404e"/>
    <p:sldId xmlns:r="http://schemas.openxmlformats.org/officeDocument/2006/relationships" id="261" r:id="Re03e6239dfd54e4d"/>
    <p:sldId xmlns:r="http://schemas.openxmlformats.org/officeDocument/2006/relationships" id="262" r:id="R0c37da993b5140aa"/>
    <p:sldId xmlns:r="http://schemas.openxmlformats.org/officeDocument/2006/relationships" id="263" r:id="Rf8cf59afb8ea448e"/>
    <p:sldId xmlns:r="http://schemas.openxmlformats.org/officeDocument/2006/relationships" id="264" r:id="R2893ea9013524c8f"/>
    <p:sldId xmlns:r="http://schemas.openxmlformats.org/officeDocument/2006/relationships" id="265" r:id="Re402a2fd423d40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4354a6b8954c68" /><Relationship Type="http://schemas.openxmlformats.org/officeDocument/2006/relationships/slideMaster" Target="/ppt/slideMasters/slideMaster1.xml" Id="R7e135214903840fe" /><Relationship Type="http://schemas.openxmlformats.org/officeDocument/2006/relationships/notesMaster" Target="/ppt/notesMasters/notesMaster1.xml" Id="R1646f2d43c2f4fa7" /><Relationship Type="http://schemas.openxmlformats.org/officeDocument/2006/relationships/presProps" Target="/ppt/presProps.xml" Id="Rcf45f69fddca4248" /><Relationship Type="http://schemas.openxmlformats.org/officeDocument/2006/relationships/tableStyles" Target="/ppt/tableStyles.xml" Id="Rbff128cdc85149b1" /><Relationship Type="http://schemas.openxmlformats.org/officeDocument/2006/relationships/slide" Target="/ppt/slides/slide1.xml" Id="R7be643b408c54815" /><Relationship Type="http://schemas.openxmlformats.org/officeDocument/2006/relationships/slide" Target="/ppt/slides/slide2.xml" Id="Rcfdd980756af49bd" /><Relationship Type="http://schemas.openxmlformats.org/officeDocument/2006/relationships/slide" Target="/ppt/slides/slide3.xml" Id="Ra8a651123f5f455b" /><Relationship Type="http://schemas.openxmlformats.org/officeDocument/2006/relationships/slide" Target="/ppt/slides/slide4.xml" Id="R14d33cc268884009" /><Relationship Type="http://schemas.openxmlformats.org/officeDocument/2006/relationships/slide" Target="/ppt/slides/slide5.xml" Id="R2cd0f979625c404e" /><Relationship Type="http://schemas.openxmlformats.org/officeDocument/2006/relationships/slide" Target="/ppt/slides/slide6.xml" Id="Re03e6239dfd54e4d" /><Relationship Type="http://schemas.openxmlformats.org/officeDocument/2006/relationships/slide" Target="/ppt/slides/slide7.xml" Id="R0c37da993b5140aa" /><Relationship Type="http://schemas.openxmlformats.org/officeDocument/2006/relationships/slide" Target="/ppt/slides/slide8.xml" Id="Rf8cf59afb8ea448e" /><Relationship Type="http://schemas.openxmlformats.org/officeDocument/2006/relationships/slide" Target="/ppt/slides/slide9.xml" Id="R2893ea9013524c8f" /><Relationship Type="http://schemas.openxmlformats.org/officeDocument/2006/relationships/slide" Target="/ppt/slides/slide10.xml" Id="Re402a2fd423d40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7f73a0d484c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c21b79855648cf" /><Relationship Type="http://schemas.openxmlformats.org/officeDocument/2006/relationships/notesMaster" Target="/ppt/notesMasters/notesMaster1.xml" Id="R465f8d92d55d45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9bd1dbb1c34617" /><Relationship Type="http://schemas.openxmlformats.org/officeDocument/2006/relationships/notesMaster" Target="/ppt/notesMasters/notesMaster1.xml" Id="R6e98c428004e41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0b1da4fb89474c" /><Relationship Type="http://schemas.openxmlformats.org/officeDocument/2006/relationships/notesMaster" Target="/ppt/notesMasters/notesMaster1.xml" Id="R77cae837603b48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64f7cf7c0f471f" /><Relationship Type="http://schemas.openxmlformats.org/officeDocument/2006/relationships/notesMaster" Target="/ppt/notesMasters/notesMaster1.xml" Id="R9e6fd063740246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4151cb18464c3a" /><Relationship Type="http://schemas.openxmlformats.org/officeDocument/2006/relationships/notesMaster" Target="/ppt/notesMasters/notesMaster1.xml" Id="R62004123a1024a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d65d81bfbc4415" /><Relationship Type="http://schemas.openxmlformats.org/officeDocument/2006/relationships/notesMaster" Target="/ppt/notesMasters/notesMaster1.xml" Id="R22e92389a4b341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24b5e503bf45c9" /><Relationship Type="http://schemas.openxmlformats.org/officeDocument/2006/relationships/notesMaster" Target="/ppt/notesMasters/notesMaster1.xml" Id="R273e2489c95a4f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59060e674d4d44" /><Relationship Type="http://schemas.openxmlformats.org/officeDocument/2006/relationships/notesMaster" Target="/ppt/notesMasters/notesMaster1.xml" Id="Rb09b5c256dd947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c61007e62544c0" /><Relationship Type="http://schemas.openxmlformats.org/officeDocument/2006/relationships/notesMaster" Target="/ppt/notesMasters/notesMaster1.xml" Id="R3523dfbfe82e43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f2661b01f8469f" /><Relationship Type="http://schemas.openxmlformats.org/officeDocument/2006/relationships/notesMaster" Target="/ppt/notesMasters/notesMaster1.xml" Id="R99e306312a844b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项目介绍</a:t>
            </a:r>
          </a:p>
          <a:p xmlns:a="http://schemas.openxmlformats.org/drawingml/2006/main">
            <a:r>
              <a:t>建议时长：20秒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各位评委好，我们的项目是 regex4cj，目标是借助 AI 工具，把 Rust regex 的主要使用能力移植成仓颉原生库。本次交付包含库源码、可运行示例、测试数据和兼容性验证记录，汇报以本地提交 b400345 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来源：README.md；docs/status.md；git HEAD</a:t>
            </a:r>
          </a:p>
          <a:p xmlns:a="http://schemas.openxmlformats.org/drawingml/2006/main">
            <a:r>
              <a:t>实现基线：本地提交 b40034516279644cc53cbc4dba4ff77e07b8c8c3。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库的用途</a:t>
            </a:r>
          </a:p>
          <a:p xmlns:a="http://schemas.openxmlformats.org/drawingml/2006/main">
            <a:r>
              <a:t>建议时长：35秒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则库接受一条模式和一段输入，再通过不同接口返回匹配结果。这里的模式表示两个大写字母、一个连字符和三位数字，可以找出两个订单号。方括号中的数字是原文的字节区间。我们还支持捕获字段、替换、分割，以及一次判断多条规则。接口同时面向合法字符串和可能包含非法 UTF-8 的原始字节。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来源：examples/showcase.json；cli/target/release/bin/main 实测 find 输出；docs/api.md</a:t>
            </a:r>
          </a:p>
          <a:p xmlns:a="http://schemas.openxmlformats.org/drawingml/2006/main">
            <a:r>
              <a:t>实现基线：本地提交 b40034516279644cc53cbc4dba4ff77e07b8c8c3。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AI工作方法</a:t>
            </a:r>
          </a:p>
          <a:p xmlns:a="http://schemas.openxmlformats.org/drawingml/2006/main">
            <a:r>
              <a:t>建议时长：40秒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我们的工作方式是先固定参照，再逐步实现。AI协助阅读源码、整理接口、查询仓颉资料、编写实现和测试。每一轮都通过编译器和固定 Rust 的实际结果检验，发现差异就保留最小反例。最终我们审计了170个公开固有方法，宏和语言特性另外说明。这里使用的是按需资料检索，并没有把尚未构建的独立 RAG 系统作为成果。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来源：docs/baseline.json；scripts/audit_api_surface.py；docs/api-audit.md；本地 CangjieSkills 技能使用记录</a:t>
            </a:r>
          </a:p>
          <a:p xmlns:a="http://schemas.openxmlformats.org/drawingml/2006/main">
            <a:r>
              <a:t>实现基线：本地提交 b40034516279644cc53cbc4dba4ff77e07b8c8c3。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实现原理</a:t>
            </a:r>
          </a:p>
          <a:p xmlns:a="http://schemas.openxmlformats.org/drawingml/2006/main">
            <a:r>
              <a:t>建议时长：40秒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实现主要分为解析、构造自动机、执行搜索和返回结果。解析器把模式拆成结构，再用 Thompson 方法构造非确定有限自动机，PikeVM按顺序推进多个可能状态。这样可以保留正则分支和贪婪选择的优先级。字符串扫描还需要把 Unicode 字符位置换算成 UTF-8 字节偏移。实际匹配在仓颉中执行，Rust 只存在于测试参照中。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来源：port/src/parser.cj；port/src/nfa.cj；port/src/bytes.cj；port/src/regex_set.cj；docs/learning-guide.md</a:t>
            </a:r>
          </a:p>
          <a:p xmlns:a="http://schemas.openxmlformats.org/drawingml/2006/main">
            <a:r>
              <a:t>实现基线：本地提交 b40034516279644cc53cbc4dba4ff77e07b8c8c3。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</a:t>
            </a:r>
          </a:p>
          <a:p xmlns:a="http://schemas.openxmlformats.org/drawingml/2006/main">
            <a:r>
              <a:t>建议时长：45秒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业务例子是一段订单文本。三条规则分别识别退款、发票和订单号，同一输入会命中编号0、1、2。RegexSet负责返回编号，标签由应用配置。现场可以用统一demo命令展示，也可以现场修改输入，删除“发票”两个字，观察编号1消失。演示脚本会比较真实输出和独立预期。除了字符串，我们还提供字节迭代接口，能按需读取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来源：examples/classification-rules.json；examples/classification-cases.json；scripts/classify.py；本次实测 set-matches 三条规则返回0/1/2</a:t>
            </a:r>
          </a:p>
          <a:p xmlns:a="http://schemas.openxmlformats.org/drawingml/2006/main">
            <a:r>
              <a:t>实现基线：本地提交 b40034516279644cc53cbc4dba4ff77e07b8c8c3。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验证证据</a:t>
            </a:r>
          </a:p>
          <a:p xmlns:a="http://schemas.openxmlformats.org/drawingml/2006/main">
            <a:r>
              <a:t>建议时长：45秒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我们的主要验证方式是差分：向固定 Rust 版本和仓颉实现提供相同输入，比较匹配区间、捕获、替换结果和错误行为。完整验收40个阶段全部通过，包含3213条上游套件用例，2148项接口契约结果，以及513次字符串起点差分。另外有原生测试和20个演示场景。这些数字存在包含关系，不能相加作为完成率。我们承诺的是已测范围内有证据，不是任意输入已经获得数学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来源：docs/acceptance/lazy-interfaces-2026-10-02.json：status/stages/checks；tests/verify_api_contracts.py；scripts/verify_runner.py</a:t>
            </a:r>
          </a:p>
          <a:p xmlns:a="http://schemas.openxmlformats.org/drawingml/2006/main">
            <a:r>
              <a:t>实现基线：本地提交 b40034516279644cc53cbc4dba4ff77e07b8c8c3。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交付与复现</a:t>
            </a:r>
          </a:p>
          <a:p xmlns:a="http://schemas.openxmlformats.org/drawingml/2006/main">
            <a:r>
              <a:t>建议时长：45秒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交付物是完整源码仓库，不要求使用压缩包。demo展示场景，example演示真正的仓颉依赖调用，check做快速验收，verify做完整对照。必要的上游考题已收进仓库，并保留固定版本、校验值和许可证。当前验证环境是 Apple Silicon macOS 和仓颉1.0.5。完整测试需要Rust及Python。我们如实记录了依赖缓存条件，未把本机验证说成所有平台和全新电脑都已通过。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来源：README.md；docs/getting-started.md；tests/upstream/manifest.json；THIRD_PARTY_NOTICES.md；docs/acceptance/lazy-interfaces-2026-10-02.json</a:t>
            </a:r>
          </a:p>
          <a:p xmlns:a="http://schemas.openxmlformats.org/drawingml/2006/main">
            <a:r>
              <a:t>实现基线：本地提交 b40034516279644cc53cbc4dba4ff77e07b8c8c3。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结束与范围说明</a:t>
            </a:r>
          </a:p>
          <a:p xmlns:a="http://schemas.openxmlformats.org/drawingml/2006/main">
            <a:r>
              <a:t>建议时长：30秒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版成果已经形成可调用、可演示、有验证记录的仓颉原生正则库。我们覆盖顶层regex的主要使用能力，并补齐了字节惰性迭代和限制分割。完整移植整个上游workspace、DFA优化和部分语言集成仍是后续范围。我们希望交付一个范围清晰、别人能够验证的成果。我的汇报到这里，谢谢各位评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来源：docs/status.md；docs/api-audit.md；仓库地址 https://github.com/lapluma1219/regex4cj；本次本地提交b400345尚未据此声明远端已同步</a:t>
            </a:r>
          </a:p>
          <a:p xmlns:a="http://schemas.openxmlformats.org/drawingml/2006/main">
            <a:r>
              <a:t>实现基线：本地提交 b40034516279644cc53cbc4dba4ff77e07b8c8c3。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缺陷闭环</a:t>
            </a:r>
          </a:p>
          <a:p xmlns:a="http://schemas.openxmlformats.org/drawingml/2006/main">
            <a:r>
              <a:t>建议时长：0秒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评委问测试是否只是展示好看的数字，可以举这三个反例。第一个暴露了惰性分割末尾空段的丢失。第二个暴露了复用捕获容器残留旧位置。第三个纠正了我们原来对字符内部字节起点的错误理解。我们先运行固定Rust确认行为，再修仓颉实现和原有错误预期。这说明差分测试确实帮助发现了语义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来源：docs/api-audit.md A1/A2/A3；oracle/src/api_audit.rs；cli/src/api_audit.cj；提交904a6ac</a:t>
            </a:r>
          </a:p>
          <a:p xmlns:a="http://schemas.openxmlformats.org/drawingml/2006/main">
            <a:r>
              <a:t>实现基线：本地提交 b40034516279644cc53cbc4dba4ff77e07b8c8c3。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兼容与性能问答</a:t>
            </a:r>
          </a:p>
          <a:p xmlns:a="http://schemas.openxmlformats.org/drawingml/2006/main">
            <a:r>
              <a:t>建议时长：0秒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被问是否百分之百完成，应回答：顶层常用能力已有实现和验证，明确列出的宏、trait、DFA资源语义及底层公开库仍有差异。若问速度是否与Rust一样，回答目前没有足够证据作等速或更快声明，后续会分别测编译、重复搜索与内存，而不是把进程启动时间当作引擎性能。字节迭代是按需匹配，但输入会快照复制，不能称为零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来源：docs/status.md；docs/api-audit.md；docs/api.md；port/src/builder.cj</a:t>
            </a:r>
          </a:p>
          <a:p xmlns:a="http://schemas.openxmlformats.org/drawingml/2006/main">
            <a:r>
              <a:t>实现基线：本地提交 b40034516279644cc53cbc4dba4ff77e07b8c8c3。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7c59d447346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2ad3de518a47cb" /><Relationship Type="http://schemas.openxmlformats.org/officeDocument/2006/relationships/slideLayout" Target="/ppt/slideLayouts/slideLayout1.xml" Id="Rc8c0f9437bfe40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c0f9437bfe40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6a230a15a4adc" /><Relationship Type="http://schemas.openxmlformats.org/officeDocument/2006/relationships/notesSlide" Target="/ppt/notesSlides/notesSlide1.xml" Id="R9e3a00e25eb24c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0e3092cac4503" /><Relationship Type="http://schemas.openxmlformats.org/officeDocument/2006/relationships/notesSlide" Target="/ppt/notesSlides/notesSlide2.xml" Id="R694bef7ad2ae40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51939c33f4a7c" /><Relationship Type="http://schemas.openxmlformats.org/officeDocument/2006/relationships/notesSlide" Target="/ppt/notesSlides/notesSlide3.xml" Id="R405d8160619e4b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7087d49944f51" /><Relationship Type="http://schemas.openxmlformats.org/officeDocument/2006/relationships/notesSlide" Target="/ppt/notesSlides/notesSlide4.xml" Id="R266a880bdf4b46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34432648044bd" /><Relationship Type="http://schemas.openxmlformats.org/officeDocument/2006/relationships/notesSlide" Target="/ppt/notesSlides/notesSlide5.xml" Id="R3a3ea9ece84140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f9f838a3a4e1d" /><Relationship Type="http://schemas.openxmlformats.org/officeDocument/2006/relationships/notesSlide" Target="/ppt/notesSlides/notesSlide6.xml" Id="R574e4ac17e0940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2fb2c0a46490c" /><Relationship Type="http://schemas.openxmlformats.org/officeDocument/2006/relationships/notesSlide" Target="/ppt/notesSlides/notesSlide7.xml" Id="R49ef7da30b6449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5e6abbfd14521" /><Relationship Type="http://schemas.openxmlformats.org/officeDocument/2006/relationships/notesSlide" Target="/ppt/notesSlides/notesSlide8.xml" Id="Re347b29ce39244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44f3f45e14be5" /><Relationship Type="http://schemas.openxmlformats.org/officeDocument/2006/relationships/notesSlide" Target="/ppt/notesSlides/notesSlide9.xml" Id="Rfb12172ef0c34d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b142c388f44de" /><Relationship Type="http://schemas.openxmlformats.org/officeDocument/2006/relationships/notesSlide" Target="/ppt/notesSlides/notesSlide10.xml" Id="R759c91baba8e4c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36906-F9FD-477D-A351-7AF42A56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66E0CD"/>
                </a:solidFill>
                <a:latin typeface="Menlo"/>
                <a:ea typeface="Menlo"/>
                <a:cs typeface="Menlo"/>
              </a:defRPr>
            </a:pPr>
            <a:r>
              <a:rPr sz="7800" b="1">
                <a:solidFill>
                  <a:srgbClr val="66E0CD"/>
                </a:solidFill>
                <a:latin typeface="Menlo"/>
                <a:ea typeface="Menlo"/>
                <a:cs typeface="Menlo"/>
              </a:rPr>
              <a:t>regex4cj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59CE0-FBA3-4A6C-BEE6-5188823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Rust regex 的仓颉原生实现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A27D4-DCF6-4732-A303-F871C4AA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AI辅助外部库转译成果答辩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52DD9-68D2-449E-BFE7-1070C666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提交基线 b400345（本地）</a:t>
            </a:r>
          </a:p>
        </p:txBody>
      </p:sp>
    </p:spTree>
    <p:extLst>
      <p:ext uri="{BB962C8B-B14F-4D97-AF65-F5344CB8AC3E}">
        <p14:creationId xmlns:p14="http://schemas.microsoft.com/office/powerpoint/2010/main" val="19374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1B431-6A21-40D1-87EB-3F738312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正则库把规则变成可调用的匹配能力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C99E3-26A0-40B9-834B-B04889C0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regex4cj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E19A3-E220-42CE-B7C1-16770873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B1757-CFA1-47F6-AD11-229827A1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输入规则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08FB2-11F7-4A6F-9000-1E51206D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5732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6E0C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66E0CD"/>
                </a:solidFill>
                <a:latin typeface="Menlo"/>
                <a:ea typeface="Menlo"/>
                <a:cs typeface="Menlo"/>
              </a:rPr>
              <a:t>[A-Z]{2}-[0-9]{3}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2C6B9-414E-4A07-BA8F-E8533624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待处理文本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76286-0A0F-4686-A923-6CF11B0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526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F5F7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F3F5F7"/>
                </a:solidFill>
                <a:latin typeface="Menlo"/>
                <a:ea typeface="Menlo"/>
                <a:cs typeface="Menlo"/>
              </a:rPr>
              <a:t>order=AB-123; order=CD-456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68D86-2228-4CF3-B940-CF265B28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匹配结果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6178A-B562-4CFA-B8D7-6C2D43C4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67075"/>
            <a:ext cx="881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66E0CD"/>
                </a:solidFill>
                <a:latin typeface="Menlo"/>
                <a:ea typeface="Menlo"/>
                <a:cs typeface="Menlo"/>
              </a:defRPr>
            </a:pPr>
            <a:r>
              <a:rPr sz="2550" b="0">
                <a:solidFill>
                  <a:srgbClr val="66E0CD"/>
                </a:solidFill>
                <a:latin typeface="Menlo"/>
                <a:ea typeface="Menlo"/>
                <a:cs typeface="Menlo"/>
              </a:rPr>
              <a:t>AB-123  [6,12)</a:t>
            </a:r>
          </a:p>
          <a:p xmlns:a="http://schemas.openxmlformats.org/drawingml/2006/main">
            <a:pPr>
              <a:defRPr sz="2550" b="0">
                <a:solidFill>
                  <a:srgbClr val="66E0CD"/>
                </a:solidFill>
                <a:latin typeface="Menlo"/>
                <a:ea typeface="Menlo"/>
                <a:cs typeface="Menlo"/>
              </a:defRPr>
            </a:pPr>
            <a:r>
              <a:rPr sz="2550" b="0">
                <a:solidFill>
                  <a:srgbClr val="66E0CD"/>
                </a:solidFill>
                <a:latin typeface="Menlo"/>
                <a:ea typeface="Menlo"/>
                <a:cs typeface="Menlo"/>
              </a:rPr>
              <a:t>CD-456  [20,26)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9FE29-13E0-43CB-8741-5C262255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已覆盖字符串、原始字节与多规则匹配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2765D-EB87-4EE1-B62C-049E91FE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查找、捕获、替换、分割，以及匹配选项配置</a:t>
            </a:r>
          </a:p>
        </p:txBody>
      </p:sp>
    </p:spTree>
    <p:extLst>
      <p:ext uri="{BB962C8B-B14F-4D97-AF65-F5344CB8AC3E}">
        <p14:creationId xmlns:p14="http://schemas.microsoft.com/office/powerpoint/2010/main" val="1553737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EEA58-C6A5-4B97-BA3A-FCA20B1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AI辅助转译的实施流程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A740E-D57A-43A5-B894-EADBE813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regex4cj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35792-4163-4873-8EDE-DE3EDDCA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530FF-BFA3-49E3-8CA2-AFCB1792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4B6071"/>
                </a:solidFill>
                <a:latin typeface="Menlo"/>
                <a:ea typeface="Menlo"/>
                <a:cs typeface="Menlo"/>
              </a:defRPr>
            </a:pPr>
            <a:r>
              <a:rPr sz="3225" b="0">
                <a:solidFill>
                  <a:srgbClr val="4B6071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95F93-92D2-4CBF-A3E8-36DCE251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76375"/>
            <a:ext cx="3667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固定上游与接口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8E9FE-C1DC-4433-B16E-D44ABB08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0495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锁定提交与Unicode版本，整理公开接口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5C91A-85E9-472A-9CB5-67E7BC73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4B6071"/>
                </a:solidFill>
                <a:latin typeface="Menlo"/>
                <a:ea typeface="Menlo"/>
                <a:cs typeface="Menlo"/>
              </a:defRPr>
            </a:pPr>
            <a:r>
              <a:rPr sz="3225" b="0">
                <a:solidFill>
                  <a:srgbClr val="4B6071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399CB-6814-4A92-9D6C-177A504C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43175"/>
            <a:ext cx="3667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按需检索仓颉资料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E1160-EECC-4B7D-9285-5B942602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结合本地技能查询语法、API和工具链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0A77F-CE4E-484F-90BF-52DD26FE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4B6071"/>
                </a:solidFill>
                <a:latin typeface="Menlo"/>
                <a:ea typeface="Menlo"/>
                <a:cs typeface="Menlo"/>
              </a:defRPr>
            </a:pPr>
            <a:r>
              <a:rPr sz="3225" b="0">
                <a:solidFill>
                  <a:srgbClr val="4B6071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E84F7-039D-49CE-9F0F-B1D66E37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09975"/>
            <a:ext cx="3667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分模块实现与编译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98756-789B-4C5D-83E7-1BD6606E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解析、自动机、接口逐步落地，修正编译问题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F4297-03B4-4938-90E1-5D202477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4B6071"/>
                </a:solidFill>
                <a:latin typeface="Menlo"/>
                <a:ea typeface="Menlo"/>
                <a:cs typeface="Menlo"/>
              </a:defRPr>
            </a:pPr>
            <a:r>
              <a:rPr sz="3225" b="0">
                <a:solidFill>
                  <a:srgbClr val="4B6071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9B8BA-C311-47A3-8136-98CA6682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76775"/>
            <a:ext cx="3667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对照测试与审计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F0803-BA3E-4FC9-8C6E-08DDBEF0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0535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以Rust为参照，保留差异并补回归测试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2C66E-713A-49F7-AF3D-8B8FF498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170 个公开固有方法形成逐项对应表</a:t>
            </a:r>
          </a:p>
        </p:txBody>
      </p:sp>
    </p:spTree>
    <p:extLst>
      <p:ext uri="{BB962C8B-B14F-4D97-AF65-F5344CB8AC3E}">
        <p14:creationId xmlns:p14="http://schemas.microsoft.com/office/powerpoint/2010/main" val="871780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DB4FE-5963-461B-834E-42725797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匹配过程在仓颉中执行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B2209-399B-4F25-B997-0E16111E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regex4cj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AEB45-F48E-4DD1-8062-E5880E97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190875"/>
                <a:gridCol w="5210175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处理阶段</a:t>
                      </a:r>
                    </a:p>
                  </a:txBody>
                  <a:tcPr marL="91440" marR="91440" marT="45720" marB="45720">
                    <a:solidFill>
                      <a:srgbClr val="DCE6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主要实现</a:t>
                      </a:r>
                    </a:p>
                  </a:txBody>
                  <a:tcPr marL="91440" marR="91440" marT="45720" marB="45720">
                    <a:solidFill>
                      <a:srgbClr val="DCE6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作用</a:t>
                      </a:r>
                    </a:p>
                  </a:txBody>
                  <a:tcPr marL="91440" marR="91440" marT="45720" marB="45720">
                    <a:solidFill>
                      <a:srgbClr val="DCE6E7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模式解析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parser.cj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解析字符类、分组、重复与标志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自动机构造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Thompson NFA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把正则结构编译成状态和转移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有序搜索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PikeVM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推进状态并保留匹配优先级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结果接口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Regex / BytesRegex / Set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返回位置、捕获、替换或命中编号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25838-E78B-4E0D-8A16-DD22668B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Unicode字符位置与UTF-8字节偏移分别处理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2A88A-BD8A-40C6-AB04-CB732AEB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Rust 只用于测试对照，运行仓颉库无需调用 Rust 引擎</a:t>
            </a:r>
          </a:p>
        </p:txBody>
      </p:sp>
    </p:spTree>
    <p:extLst>
      <p:ext uri="{BB962C8B-B14F-4D97-AF65-F5344CB8AC3E}">
        <p14:creationId xmlns:p14="http://schemas.microsoft.com/office/powerpoint/2010/main" val="1078232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A2BD0-597F-4D3D-A516-598178E2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业务演示：同一段文本命中多条规则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C42CA-8423-4919-AE1C-2CE89C66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regex4cj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CCD73-AF25-4801-B87C-46A338A9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0B6CA-8512-4ED8-A160-BD6AECC7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6E0C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66E0CD"/>
                </a:solidFill>
                <a:latin typeface="Arial Unicode MS"/>
                <a:ea typeface="Arial Unicode MS"/>
                <a:cs typeface="Arial Unicode MS"/>
              </a:rPr>
              <a:t>订单 AB-123 需要退款，也需要开发票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7429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3667125"/>
                <a:gridCol w="2190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3F5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规则编号</a:t>
                      </a:r>
                    </a:p>
                  </a:txBody>
                  <a:tcPr marL="91440" marR="91440" marT="45720" marB="45720">
                    <a:solidFill>
                      <a:srgbClr val="20364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3F5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匹配模式</a:t>
                      </a:r>
                    </a:p>
                  </a:txBody>
                  <a:tcPr marL="91440" marR="91440" marT="45720" marB="45720">
                    <a:solidFill>
                      <a:srgbClr val="20364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3F5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业务含义</a:t>
                      </a:r>
                    </a:p>
                  </a:txBody>
                  <a:tcPr marL="91440" marR="91440" marT="45720" marB="45720">
                    <a:solidFill>
                      <a:srgbClr val="203649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3F5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3F5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退款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3F5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退款相关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3F5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3F5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发票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3F5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发票相关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3F5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3F5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[A-Z]{2}-[0-9]{3}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3F5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包含订单号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E23D7-96A8-4D1B-9C09-BAEFC5AA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574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命中结果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D9047-8A52-4F4C-8AFD-B2F92C54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43275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6E0CD"/>
                </a:solidFill>
                <a:latin typeface="Menlo"/>
                <a:ea typeface="Menlo"/>
                <a:cs typeface="Menlo"/>
              </a:defRPr>
            </a:pPr>
            <a:r>
              <a:rPr sz="3450" b="1">
                <a:solidFill>
                  <a:srgbClr val="66E0CD"/>
                </a:solidFill>
                <a:latin typeface="Menlo"/>
                <a:ea typeface="Menlo"/>
                <a:cs typeface="Menlo"/>
              </a:rPr>
              <a:t>[0, 1, 2]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D7281-857C-4782-A3BF-40D61145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14825"/>
            <a:ext cx="3209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编号对应规则顺序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E5C45-ED97-47E8-9C79-1096A701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现场入口：bash scripts/run.sh demo</a:t>
            </a:r>
          </a:p>
        </p:txBody>
      </p:sp>
    </p:spTree>
    <p:extLst>
      <p:ext uri="{BB962C8B-B14F-4D97-AF65-F5344CB8AC3E}">
        <p14:creationId xmlns:p14="http://schemas.microsoft.com/office/powerpoint/2010/main" val="2045521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23088-5867-4758-A981-18E2CD2F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完整验收40个阶段全部通过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AB281-31A7-4560-A6F2-250AA037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regex4cj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3597E-3A0E-4418-81B2-2CCA29A6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9D0CD-ACD9-4C13-9A1D-4A549F62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619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66E0CD"/>
                </a:solidFill>
                <a:latin typeface="Menlo"/>
                <a:ea typeface="Menlo"/>
                <a:cs typeface="Menlo"/>
              </a:defRPr>
            </a:pPr>
            <a:r>
              <a:rPr sz="6825" b="1">
                <a:solidFill>
                  <a:srgbClr val="66E0CD"/>
                </a:solidFill>
                <a:latin typeface="Menlo"/>
                <a:ea typeface="Menlo"/>
                <a:cs typeface="Menlo"/>
              </a:rPr>
              <a:t>3213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62FC0-5E35-4797-9720-3AA299D1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上游套件用例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38419-E400-4972-B658-D0F7A037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05000"/>
            <a:ext cx="3619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66E0CD"/>
                </a:solidFill>
                <a:latin typeface="Menlo"/>
                <a:ea typeface="Menlo"/>
                <a:cs typeface="Menlo"/>
              </a:defRPr>
            </a:pPr>
            <a:r>
              <a:rPr sz="6825" b="1">
                <a:solidFill>
                  <a:srgbClr val="66E0CD"/>
                </a:solidFill>
                <a:latin typeface="Menlo"/>
                <a:ea typeface="Menlo"/>
                <a:cs typeface="Menlo"/>
              </a:rPr>
              <a:t>2148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A075A-B6E6-4D73-83BD-6B8CEFAA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480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接口契约结果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6CAEF-EDDE-4B58-BA02-BDEFC46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3000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66E0CD"/>
                </a:solidFill>
                <a:latin typeface="Menlo"/>
                <a:ea typeface="Menlo"/>
                <a:cs typeface="Menlo"/>
              </a:defRPr>
            </a:pPr>
            <a:r>
              <a:rPr sz="6825" b="1">
                <a:solidFill>
                  <a:srgbClr val="66E0CD"/>
                </a:solidFill>
                <a:latin typeface="Menlo"/>
                <a:ea typeface="Menlo"/>
                <a:cs typeface="Menlo"/>
              </a:rPr>
              <a:t>513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6468D-500E-4362-9779-2947BCD8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480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字符串起点差分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E2884-83C6-4731-A6A2-78AEC152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31 项仓颉测试　3 项 Rust 测试　4 项 Python 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EF187-B061-43A7-B143-BAA654E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13 个单模式演示　7 个分类演示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13AC5-CEB6-448F-B196-02078AAC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契约结果含1400项迭代、384项Builder组合、260项bytes起点结果</a:t>
            </a:r>
          </a:p>
          <a:p xmlns:a="http://schemas.openxmlformats.org/drawingml/2006/main">
            <a:pPr>
              <a:defRPr sz="157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以上统计存在包含关系，不相加为完成率</a:t>
            </a:r>
          </a:p>
        </p:txBody>
      </p:sp>
    </p:spTree>
    <p:extLst>
      <p:ext uri="{BB962C8B-B14F-4D97-AF65-F5344CB8AC3E}">
        <p14:creationId xmlns:p14="http://schemas.microsoft.com/office/powerpoint/2010/main" val="1061918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FE310-CABC-4777-8FF4-3779CE2D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源码、测试数据与说明一同交付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44446-11A1-4D4A-970B-47F8F102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regex4cj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2C3C5-D3A7-4E37-9F7A-1122B447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D0F42-4B78-4E8E-80F3-6747D5CC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00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统一运行入口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77767-706D-49E4-874C-1BC98600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619125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839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72839"/>
                </a:solidFill>
                <a:latin typeface="Menlo"/>
                <a:ea typeface="Menlo"/>
                <a:cs typeface="Menlo"/>
              </a:rPr>
              <a:t>bash scripts/run.sh demo</a:t>
            </a:r>
          </a:p>
          <a:p xmlns:a="http://schemas.openxmlformats.org/drawingml/2006/main">
            <a:pPr>
              <a:defRPr sz="2025" b="0">
                <a:solidFill>
                  <a:srgbClr val="172839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72839"/>
                </a:solidFill>
                <a:latin typeface="Menlo"/>
                <a:ea typeface="Menlo"/>
                <a:cs typeface="Menlo"/>
              </a:rPr>
              <a:t>bash scripts/run.sh example</a:t>
            </a:r>
          </a:p>
          <a:p xmlns:a="http://schemas.openxmlformats.org/drawingml/2006/main">
            <a:pPr>
              <a:defRPr sz="2025" b="0">
                <a:solidFill>
                  <a:srgbClr val="172839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72839"/>
                </a:solidFill>
                <a:latin typeface="Menlo"/>
                <a:ea typeface="Menlo"/>
                <a:cs typeface="Menlo"/>
              </a:rPr>
              <a:t>bash scripts/run.sh check</a:t>
            </a:r>
          </a:p>
          <a:p xmlns:a="http://schemas.openxmlformats.org/drawingml/2006/main">
            <a:pPr>
              <a:defRPr sz="2025" b="0">
                <a:solidFill>
                  <a:srgbClr val="172839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72839"/>
                </a:solidFill>
                <a:latin typeface="Menlo"/>
                <a:ea typeface="Menlo"/>
                <a:cs typeface="Menlo"/>
              </a:rPr>
              <a:t>bash scripts/run.sh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7BE68-D87E-41F9-AC8D-47DF971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478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仓库内包含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3F3A1-4559-477B-9414-4643DC24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66950"/>
            <a:ext cx="42862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仓颉库与调用示例</a:t>
            </a:r>
          </a:p>
          <a:p xmlns:a="http://schemas.openxmlformats.org/drawingml/2006/main">
            <a:pPr>
              <a:defRPr sz="20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固定上游测试数据及校验值</a:t>
            </a:r>
          </a:p>
          <a:p xmlns:a="http://schemas.openxmlformats.org/drawingml/2006/main">
            <a:pPr>
              <a:defRPr sz="20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API对应表与验收记录</a:t>
            </a:r>
          </a:p>
          <a:p xmlns:a="http://schemas.openxmlformats.org/drawingml/2006/main">
            <a:pPr>
              <a:defRPr sz="20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许可证和第三方归属说明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1311D-EBD5-4E45-984D-551E5E4F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验证环境：Apple Silicon macOS，仓颉 1.0.5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3635C-1139-4F9A-B8B6-BFA0D69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完整验收另需 Python、Rust/Cargo。首次获取依赖需要网络。</a:t>
            </a:r>
          </a:p>
          <a:p xmlns:a="http://schemas.openxmlformats.org/drawingml/2006/main">
            <a:pPr>
              <a:defRPr sz="17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本次成功验收复用Cargo下载缓存，没有依赖外置上游测试目录。</a:t>
            </a:r>
          </a:p>
        </p:txBody>
      </p:sp>
    </p:spTree>
    <p:extLst>
      <p:ext uri="{BB962C8B-B14F-4D97-AF65-F5344CB8AC3E}">
        <p14:creationId xmlns:p14="http://schemas.microsoft.com/office/powerpoint/2010/main" val="1364493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F7BD5-388B-4E84-A820-36839EEE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本版成果与交付范围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737D9-C03A-4012-ACA4-7305D4E0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regex4cj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062A5-3E74-4C0C-8F9A-FD4E9CD5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D7198-B814-4A20-BE52-EDB2A104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66E0C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66E0CD"/>
                </a:solidFill>
                <a:latin typeface="Arial Unicode MS"/>
                <a:ea typeface="Arial Unicode MS"/>
                <a:cs typeface="Arial Unicode MS"/>
              </a:rPr>
              <a:t>仓颉原生正则库</a:t>
            </a:r>
          </a:p>
          <a:p xmlns:a="http://schemas.openxmlformats.org/drawingml/2006/main">
            <a:pPr>
              <a:defRPr sz="3900" b="1">
                <a:solidFill>
                  <a:srgbClr val="66E0C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66E0CD"/>
                </a:solidFill>
                <a:latin typeface="Arial Unicode MS"/>
                <a:ea typeface="Arial Unicode MS"/>
                <a:cs typeface="Arial Unicode MS"/>
              </a:rPr>
              <a:t>附带可复现的兼容证据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61984-7C39-40AD-8333-27288B96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F3F5F7"/>
                </a:solidFill>
                <a:latin typeface="Arial Unicode MS"/>
                <a:ea typeface="Arial Unicode MS"/>
                <a:cs typeface="Arial Unicode MS"/>
              </a:rPr>
              <a:t>覆盖顶层 regex 的字符串、bytes、RegexSet 与 Builder 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7A5DC-E746-46F6-8E38-01128417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DBCCC"/>
                </a:solidFill>
                <a:latin typeface="Arial Unicode MS"/>
                <a:ea typeface="Arial Unicode MS"/>
                <a:cs typeface="Arial Unicode MS"/>
              </a:rPr>
              <a:t>保留明确边界：底层公开库、DFA优化及部分语言集成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17149-74B8-45BE-A7EC-3E0F940E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5F7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3F5F7"/>
                </a:solidFill>
                <a:latin typeface="Menlo"/>
                <a:ea typeface="Menlo"/>
                <a:cs typeface="Menlo"/>
              </a:rPr>
              <a:t>github.com/lapluma1219/regex4cj</a:t>
            </a:r>
          </a:p>
        </p:txBody>
      </p:sp>
    </p:spTree>
    <p:extLst>
      <p:ext uri="{BB962C8B-B14F-4D97-AF65-F5344CB8AC3E}">
        <p14:creationId xmlns:p14="http://schemas.microsoft.com/office/powerpoint/2010/main" val="1864934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38755-31D3-45B0-ADB3-F097B7C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备答：接口审计发现并修复了什么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6F922-941B-44F6-B3D8-A49CE2EB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备答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0856F-5ED3-421D-AC9B-3CF3F2F2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3667125"/>
                <a:gridCol w="3448050"/>
              </a:tblGrid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最小操作</a:t>
                      </a:r>
                    </a:p>
                  </a:txBody>
                  <a:tcPr marL="91440" marR="91440" marT="45720" marB="45720">
                    <a:solidFill>
                      <a:srgbClr val="DCE6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修复前的问题</a:t>
                      </a:r>
                    </a:p>
                  </a:txBody>
                  <a:tcPr marL="91440" marR="91440" marT="45720" marB="45720">
                    <a:solidFill>
                      <a:srgbClr val="DCE6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对齐后的行为</a:t>
                      </a:r>
                    </a:p>
                  </a:txBody>
                  <a:tcPr marL="91440" marR="91440" marT="45720" marB="45720">
                    <a:solidFill>
                      <a:srgbClr val="DCE6E7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空模式分割“中”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迭代器遗漏最后的空段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空串、“中”、空串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捕获成功后再次搜索失败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还能读取上一次的位置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get 返回 None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从“中a”的字节1查找 a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报“不是字符边界”异常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返回原文区间 [3,4)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0AD25-E1A8-435A-94AD-2FA4CCB1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先用固定Rust复现，再修实现并加入回归用例</a:t>
            </a:r>
          </a:p>
        </p:txBody>
      </p:sp>
    </p:spTree>
    <p:extLst>
      <p:ext uri="{BB962C8B-B14F-4D97-AF65-F5344CB8AC3E}">
        <p14:creationId xmlns:p14="http://schemas.microsoft.com/office/powerpoint/2010/main" val="2035521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DC950-DF4A-410D-A5DD-B3458909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备答：兼容边界与后续方向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3472D-32B9-4430-9E6A-E2536477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备答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64C51-135C-42EB-B7CE-C3768F58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4B6071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619625"/>
                <a:gridCol w="3829050"/>
              </a:tblGrid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边界</a:t>
                      </a:r>
                    </a:p>
                  </a:txBody>
                  <a:tcPr marL="91440" marR="91440" marT="45720" marB="45720">
                    <a:solidFill>
                      <a:srgbClr val="DCE6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当前事实</a:t>
                      </a:r>
                    </a:p>
                  </a:txBody>
                  <a:tcPr marL="91440" marR="91440" marT="45720" marB="45720">
                    <a:solidFill>
                      <a:srgbClr val="DCE6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后续方向</a:t>
                      </a:r>
                    </a:p>
                  </a:txBody>
                  <a:tcPr marL="91440" marR="91440" marT="45720" marB="45720">
                    <a:solidFill>
                      <a:srgbClr val="DCE6E7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整个上游workspace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本版聚焦顶层regex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底层公开接口另行规划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性能与资源配置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PikeVM，无等价DFA缓存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先测瓶颈，再做引擎优化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惰性与内存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bytes复制输入，按next搜索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评估更低复制成本的接口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平台与语言集成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本机平台验证；宏/trait未全复刻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按实际需求扩平台和集成</a:t>
                      </a:r>
                    </a:p>
                  </a:txBody>
                  <a:tcPr marL="91440" marR="91440" marT="45720" marB="45720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F3223-50EA-46DE-B0C5-26B82586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2839"/>
                </a:solidFill>
                <a:latin typeface="Arial Unicode MS"/>
                <a:ea typeface="Arial Unicode MS"/>
                <a:cs typeface="Arial Unicode MS"/>
              </a:rPr>
              <a:t>不宣称完全等价，也不以有限测试替代全输入证明</a:t>
            </a:r>
          </a:p>
        </p:txBody>
      </p:sp>
    </p:spTree>
    <p:extLst>
      <p:ext uri="{BB962C8B-B14F-4D97-AF65-F5344CB8AC3E}">
        <p14:creationId xmlns:p14="http://schemas.microsoft.com/office/powerpoint/2010/main" val="412814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2026-10-03T09:33:34.6960000Z</dcterms:created>
  <dcterms:modified xsi:type="dcterms:W3CDTF">2026-10-03T09:33:34.6960000Z</dcterms:modified>
</coreProperties>
</file>